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e31e211b01405e" /><Relationship Type="http://schemas.openxmlformats.org/officeDocument/2006/relationships/extended-properties" Target="/docProps/app.xml" Id="R1e6471cdf7de4096" /><Relationship Type="http://schemas.openxmlformats.org/officeDocument/2006/relationships/officeDocument" Target="/ppt/presentation.xml" Id="R12f92f0dde75464c" /></Relationships>
</file>

<file path=ppt/presentation.xml><?xml version="1.0" encoding="utf-8"?>
<p:presentation xmlns:p="http://schemas.openxmlformats.org/presentationml/2006/main">
  <p:sldMasterIdLst>
    <p:sldMasterId xmlns:r="http://schemas.openxmlformats.org/officeDocument/2006/relationships" id="2147483648" r:id="R2ef09eb1de554e04"/>
  </p:sldMasterIdLst>
  <p:notesMasterIdLst>
    <p:notesMasterId xmlns:r="http://schemas.openxmlformats.org/officeDocument/2006/relationships" r:id="R3be76c3f6dd04853"/>
  </p:notesMasterIdLst>
  <p:sldIdLst>
    <p:sldId xmlns:r="http://schemas.openxmlformats.org/officeDocument/2006/relationships" id="256" r:id="Re3d6bffdd55e44e9"/>
    <p:sldId xmlns:r="http://schemas.openxmlformats.org/officeDocument/2006/relationships" id="257" r:id="Ra62e9889429b4d9a"/>
    <p:sldId xmlns:r="http://schemas.openxmlformats.org/officeDocument/2006/relationships" id="258" r:id="Rd4b3611f15ef4f31"/>
    <p:sldId xmlns:r="http://schemas.openxmlformats.org/officeDocument/2006/relationships" id="259" r:id="Rdbd001a6d676491a"/>
    <p:sldId xmlns:r="http://schemas.openxmlformats.org/officeDocument/2006/relationships" id="260" r:id="R067f28a22b5540e6"/>
    <p:sldId xmlns:r="http://schemas.openxmlformats.org/officeDocument/2006/relationships" id="261" r:id="R0d6a1b2500a94cc7"/>
    <p:sldId xmlns:r="http://schemas.openxmlformats.org/officeDocument/2006/relationships" id="262" r:id="R0b6e595d0e9241a3"/>
    <p:sldId xmlns:r="http://schemas.openxmlformats.org/officeDocument/2006/relationships" id="263" r:id="Rd1714d40bb234d87"/>
    <p:sldId xmlns:r="http://schemas.openxmlformats.org/officeDocument/2006/relationships" id="264" r:id="R661d9097099349bd"/>
    <p:sldId xmlns:r="http://schemas.openxmlformats.org/officeDocument/2006/relationships" id="265" r:id="R8c2c90e8550d4e2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96ec970e3e4186" /><Relationship Type="http://schemas.openxmlformats.org/officeDocument/2006/relationships/slideMaster" Target="/ppt/slideMasters/slideMaster1.xml" Id="R2ef09eb1de554e04" /><Relationship Type="http://schemas.openxmlformats.org/officeDocument/2006/relationships/notesMaster" Target="/ppt/notesMasters/notesMaster1.xml" Id="R3be76c3f6dd04853" /><Relationship Type="http://schemas.openxmlformats.org/officeDocument/2006/relationships/presProps" Target="/ppt/presProps.xml" Id="R5cd6b954dda04d3a" /><Relationship Type="http://schemas.openxmlformats.org/officeDocument/2006/relationships/tableStyles" Target="/ppt/tableStyles.xml" Id="R074b7cfeac294f6f" /><Relationship Type="http://schemas.openxmlformats.org/officeDocument/2006/relationships/slide" Target="/ppt/slides/slide1.xml" Id="Re3d6bffdd55e44e9" /><Relationship Type="http://schemas.openxmlformats.org/officeDocument/2006/relationships/slide" Target="/ppt/slides/slide2.xml" Id="Ra62e9889429b4d9a" /><Relationship Type="http://schemas.openxmlformats.org/officeDocument/2006/relationships/slide" Target="/ppt/slides/slide3.xml" Id="Rd4b3611f15ef4f31" /><Relationship Type="http://schemas.openxmlformats.org/officeDocument/2006/relationships/slide" Target="/ppt/slides/slide4.xml" Id="Rdbd001a6d676491a" /><Relationship Type="http://schemas.openxmlformats.org/officeDocument/2006/relationships/slide" Target="/ppt/slides/slide5.xml" Id="R067f28a22b5540e6" /><Relationship Type="http://schemas.openxmlformats.org/officeDocument/2006/relationships/slide" Target="/ppt/slides/slide6.xml" Id="R0d6a1b2500a94cc7" /><Relationship Type="http://schemas.openxmlformats.org/officeDocument/2006/relationships/slide" Target="/ppt/slides/slide7.xml" Id="R0b6e595d0e9241a3" /><Relationship Type="http://schemas.openxmlformats.org/officeDocument/2006/relationships/slide" Target="/ppt/slides/slide8.xml" Id="Rd1714d40bb234d87" /><Relationship Type="http://schemas.openxmlformats.org/officeDocument/2006/relationships/slide" Target="/ppt/slides/slide9.xml" Id="R661d9097099349bd" /><Relationship Type="http://schemas.openxmlformats.org/officeDocument/2006/relationships/slide" Target="/ppt/slides/slide10.xml" Id="R8c2c90e8550d4e2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aec00e58604d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704b815f134d16" /><Relationship Type="http://schemas.openxmlformats.org/officeDocument/2006/relationships/notesMaster" Target="/ppt/notesMasters/notesMaster1.xml" Id="R4308df0235ce499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9fb595b4ed4ed7" /><Relationship Type="http://schemas.openxmlformats.org/officeDocument/2006/relationships/notesMaster" Target="/ppt/notesMasters/notesMaster1.xml" Id="Rfc70163ad3f94c1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8df17223384390" /><Relationship Type="http://schemas.openxmlformats.org/officeDocument/2006/relationships/notesMaster" Target="/ppt/notesMasters/notesMaster1.xml" Id="R10bbfaba355844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bd549d1b77453b" /><Relationship Type="http://schemas.openxmlformats.org/officeDocument/2006/relationships/notesMaster" Target="/ppt/notesMasters/notesMaster1.xml" Id="R8d73989005b142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3004e874a449a6" /><Relationship Type="http://schemas.openxmlformats.org/officeDocument/2006/relationships/notesMaster" Target="/ppt/notesMasters/notesMaster1.xml" Id="Rcb49f6c79d29440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eab601ca6b448a" /><Relationship Type="http://schemas.openxmlformats.org/officeDocument/2006/relationships/notesMaster" Target="/ppt/notesMasters/notesMaster1.xml" Id="R464a943be04d475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233e43bc3e4117" /><Relationship Type="http://schemas.openxmlformats.org/officeDocument/2006/relationships/notesMaster" Target="/ppt/notesMasters/notesMaster1.xml" Id="Ra31eba587ca541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f2f183948846a8" /><Relationship Type="http://schemas.openxmlformats.org/officeDocument/2006/relationships/notesMaster" Target="/ppt/notesMasters/notesMaster1.xml" Id="Ra9e2911785cb4e7d"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aea3d4d01d4685" /><Relationship Type="http://schemas.openxmlformats.org/officeDocument/2006/relationships/notesMaster" Target="/ppt/notesMasters/notesMaster1.xml" Id="R7ecb2b057704459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06d156ce05c49c8" /><Relationship Type="http://schemas.openxmlformats.org/officeDocument/2006/relationships/notesMaster" Target="/ppt/notesMasters/notesMaster1.xml" Id="R08127302320345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present a working Round 1 solution using original synthetic logistics data. This is a symbolic model-based planning agent, not an LLM chatbot.</a:t>
            </a:r>
          </a:p>
          <a:p xmlns:a="http://schemas.openxmlformats.org/drawingml/2006/main">
            <a:r>
              <a:t/>
            </a:r>
          </a:p>
          <a:p xmlns:a="http://schemas.openxmlformats.org/drawingml/2006/main">
            <a:r>
              <a:t>Official Round 1 problem/rubric: https://docs.google.com/document/d/1GaCXe9AuFv0KCMPI8wj6FCPHt5AcPYjdIqhgAIIyByA/edit ; submission requirements: https://unstop.com/hackathons/agentic-ai-hackathon-tech-zephyr-40-indian-institute-of-technology-bhubaneswar-1742838/amp ; accessed 2026-09-12.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values are authored simulator inputs. Expected impact is better recovery discipline and less manual rework; no measured industry savings are claimed.</a:t>
            </a:r>
          </a:p>
          <a:p xmlns:a="http://schemas.openxmlformats.org/drawingml/2006/main">
            <a:r>
              <a:t/>
            </a:r>
          </a:p>
          <a:p xmlns:a="http://schemas.openxmlformats.org/drawingml/2006/main">
            <a:r>
              <a:t>Official Round 1 problem/rubric: https://docs.google.com/document/d/1GaCXe9AuFv0KCMPI8wj6FCPHt5AcPYjdIqhgAIIyByA/edit ; submission requirements: https://unstop.com/hackathons/agentic-ai-hackathon-tech-zephyr-40-indian-institute-of-technology-bhubaneswar-1742838/amp ; accessed 2026-09-12.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controller branches on feedback. Stale commits return to observation; infeasibility escalates; integrity mismatches stop completion. Candidate allocations are computed dynamically. Known faults are environment fixtures; judges can inject other outages.</a:t>
            </a:r>
          </a:p>
          <a:p xmlns:a="http://schemas.openxmlformats.org/drawingml/2006/main">
            <a:r>
              <a:t/>
            </a:r>
          </a:p>
          <a:p xmlns:a="http://schemas.openxmlformats.org/drawingml/2006/main">
            <a:r>
              <a:t>Official Round 1 problem/rubric: https://docs.google.com/document/d/1GaCXe9AuFv0KCMPI8wj6FCPHt5AcPYjdIqhgAIIyByA/edit ; submission requirements: https://unstop.com/hackathons/agentic-ai-hackathon-tech-zephyr-40-indian-institute-of-technology-bhubaneswar-1742838/amp ; accessed 2026-09-12.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editable diagram shows major components. Tools are local functions, not separate network microservices. SQLite transaction persistence covers each world mutation and its event. Retrieval is catalog lookup; no RAG or external model is claimed. See docs/ARCHITECTURE.md for the full feedback graph and contracts.</a:t>
            </a:r>
          </a:p>
          <a:p xmlns:a="http://schemas.openxmlformats.org/drawingml/2006/main">
            <a:r>
              <a:t/>
            </a:r>
          </a:p>
          <a:p xmlns:a="http://schemas.openxmlformats.org/drawingml/2006/main">
            <a:r>
              <a:t>Official Round 1 problem/rubric: https://docs.google.com/document/d/1GaCXe9AuFv0KCMPI8wj6FCPHt5AcPYjdIqhgAIIyByA/edit ; submission requirements: https://unstop.com/hackathons/agentic-ai-hackathon-tech-zephyr-40-indian-institute-of-technology-bhubaneswar-1742838/amp ; accessed 2026-09-12.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Results come from submission/TechTitan_evidence_agentic.json. Cuttack is withdrawn after the first plan. Puri closes after the second plan is committed. Forty valid Khordha units remain; the next action adds forty Khordha and twenty Berhampur. Cancellation is pre-dispatch, fully refundable, with no sunk carbon in the simulator.</a:t>
            </a:r>
          </a:p>
          <a:p xmlns:a="http://schemas.openxmlformats.org/drawingml/2006/main">
            <a:r>
              <a:t/>
            </a:r>
          </a:p>
          <a:p xmlns:a="http://schemas.openxmlformats.org/drawingml/2006/main">
            <a:r>
              <a:t>Official Round 1 problem/rubric: https://docs.google.com/document/d/1GaCXe9AuFv0KCMPI8wj6FCPHt5AcPYjdIqhgAIIyByA/edit ; submission requirements: https://unstop.com/hackathons/agentic-ai-hackathon-tech-zephyr-40-indian-institute-of-technology-bhubaneswar-1742838/amp ; accessed 2026-09-12.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Verification scope is reservations and projected inventory coverage in the simulator. This is not physical delivery confirmation. Budget headroom is INR 2,300 and deadline headroom is two hours. Do not interpret synthetic carbon attributes as audited measurements.</a:t>
            </a:r>
          </a:p>
          <a:p xmlns:a="http://schemas.openxmlformats.org/drawingml/2006/main">
            <a:r>
              <a:t/>
            </a:r>
          </a:p>
          <a:p xmlns:a="http://schemas.openxmlformats.org/drawingml/2006/main">
            <a:r>
              <a:t>Official Round 1 problem/rubric: https://docs.google.com/document/d/1GaCXe9AuFv0KCMPI8wj6FCPHt5AcPYjdIqhgAIIyByA/edit ; submission requirements: https://unstop.com/hackathons/agentic-ai-hackathon-tech-zephyr-40-indian-institute-of-technology-bhubaneswar-1742838/amp ; accessed 2026-09-12.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Measured by evaluate.py and tests/test_engine.py. The independent oracle does not call the planner or its total calculator. Feasible and infeasible counts are separate to avoid treating impossible goals as algorithm failures. All test inputs are included in the evaluation JSON. The simple baseline ignores global carbon constraints until post-checking and has no recovery.</a:t>
            </a:r>
          </a:p>
          <a:p xmlns:a="http://schemas.openxmlformats.org/drawingml/2006/main">
            <a:r>
              <a:t/>
            </a:r>
          </a:p>
          <a:p xmlns:a="http://schemas.openxmlformats.org/drawingml/2006/main">
            <a:r>
              <a:t>Official Round 1 problem/rubric: https://docs.google.com/document/d/1GaCXe9AuFv0KCMPI8wj6FCPHt5AcPYjdIqhgAIIyByA/edit ; submission requirements: https://unstop.com/hackathons/agentic-ai-hackathon-tech-zephyr-40-indian-institute-of-technology-bhubaneswar-1742838/amp ; accessed 2026-09-12.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from the working application, captured after the two-disruption workflow. It is evidence, not an illustrative mockup. The demo video records real UI actions with synthetic computer narration and captions.</a:t>
            </a:r>
          </a:p>
          <a:p xmlns:a="http://schemas.openxmlformats.org/drawingml/2006/main">
            <a:r>
              <a:t/>
            </a:r>
          </a:p>
          <a:p xmlns:a="http://schemas.openxmlformats.org/drawingml/2006/main">
            <a:r>
              <a:t>Official Round 1 problem/rubric: https://docs.google.com/document/d/1GaCXe9AuFv0KCMPI8wj6FCPHt5AcPYjdIqhgAIIyByA/edit ; submission requirements: https://unstop.com/hackathons/agentic-ai-hackathon-tech-zephyr-40-indian-institute-of-technology-bhubaneswar-1742838/amp ; accessed 2026-09-12.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enumerator does not scale to production network size. A next implementation would introduce MILP/CP optimization, real ERP adapters, partial/sunk cancellation costs, stochastic transit and authentication. Current results apply only to the disclosed model.</a:t>
            </a:r>
          </a:p>
          <a:p xmlns:a="http://schemas.openxmlformats.org/drawingml/2006/main">
            <a:r>
              <a:t/>
            </a:r>
          </a:p>
          <a:p xmlns:a="http://schemas.openxmlformats.org/drawingml/2006/main">
            <a:r>
              <a:t>Official Round 1 problem/rubric: https://docs.google.com/document/d/1GaCXe9AuFv0KCMPI8wj6FCPHt5AcPYjdIqhgAIIyByA/edit ; submission requirements: https://unstop.com/hackathons/agentic-ai-hackathon-tech-zephyr-40-indian-institute-of-technology-bhubaneswar-1742838/amp ; accessed 2026-09-12.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6 was selected because the entire sandbox and objective verification can be built with owned synthetic data. No qualification or business-performance guarantee is made. Public source and deliverables: https://github.com/realgauravvyas/TechTitan-RouteGuard-Agentic</a:t>
            </a:r>
          </a:p>
          <a:p xmlns:a="http://schemas.openxmlformats.org/drawingml/2006/main">
            <a:r>
              <a:t/>
            </a:r>
          </a:p>
          <a:p xmlns:a="http://schemas.openxmlformats.org/drawingml/2006/main">
            <a:r>
              <a:t>Official Round 1 problem/rubric: https://docs.google.com/document/d/1GaCXe9AuFv0KCMPI8wj6FCPHt5AcPYjdIqhgAIIyByA/edit ; submission requirements: https://unstop.com/hackathons/agentic-ai-hackathon-tech-zephyr-40-indian-institute-of-technology-bhubaneswar-1742838/amp ; accessed 2026-09-12.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f74fe96a6947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25bb29940a436b" /><Relationship Type="http://schemas.openxmlformats.org/officeDocument/2006/relationships/slideLayout" Target="/ppt/slideLayouts/slideLayout1.xml" Id="R694cc7d1e1284d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4cc7d1e1284d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e52cc0a19c4241" /><Relationship Type="http://schemas.openxmlformats.org/officeDocument/2006/relationships/notesSlide" Target="/ppt/notesSlides/notesSlide1.xml" Id="Rb7273cdf4dc746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3203f691db4e0c" /><Relationship Type="http://schemas.openxmlformats.org/officeDocument/2006/relationships/notesSlide" Target="/ppt/notesSlides/notesSlide2.xml" Id="R143522f9ad7c4f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af5c3bd35bc421b" /><Relationship Type="http://schemas.openxmlformats.org/officeDocument/2006/relationships/notesSlide" Target="/ppt/notesSlides/notesSlide3.xml" Id="R4dad439523f44f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c88733b8b2a40ab" /><Relationship Type="http://schemas.openxmlformats.org/officeDocument/2006/relationships/notesSlide" Target="/ppt/notesSlides/notesSlide4.xml" Id="Rb0f2188b8e4647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13a781392514bcd" /><Relationship Type="http://schemas.openxmlformats.org/officeDocument/2006/relationships/notesSlide" Target="/ppt/notesSlides/notesSlide5.xml" Id="Rdd337bd4df8746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46d5cda4f24913" /><Relationship Type="http://schemas.openxmlformats.org/officeDocument/2006/relationships/notesSlide" Target="/ppt/notesSlides/notesSlide6.xml" Id="R6a86ba49a4b546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c51a7b7d159495d" /><Relationship Type="http://schemas.openxmlformats.org/officeDocument/2006/relationships/notesSlide" Target="/ppt/notesSlides/notesSlide7.xml" Id="R1dd58b6cadf743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a0a62ada5ad4208" /><Relationship Type="http://schemas.openxmlformats.org/officeDocument/2006/relationships/image" Target="/ppt/media/image.png" Id="Re0a254c00ffe47a5" /><Relationship Type="http://schemas.openxmlformats.org/officeDocument/2006/relationships/notesSlide" Target="/ppt/notesSlides/notesSlide8.xml" Id="R5b5f893b36bd407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53388f0dd5240c8" /><Relationship Type="http://schemas.openxmlformats.org/officeDocument/2006/relationships/notesSlide" Target="/ppt/notesSlides/notesSlide9.xml" Id="R1b094e5936a34e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0d938a0267f4fcb" /><Relationship Type="http://schemas.openxmlformats.org/officeDocument/2006/relationships/notesSlide" Target="/ppt/notesSlides/notesSlide10.xml" Id="Rf1fe9f9c065c4081" /></Relationships>
</file>

<file path=ppt/slides/slide1.xml><?xml version="1.0" encoding="utf-8"?>
<p:sld xmlns:p="http://schemas.openxmlformats.org/presentationml/2006/main">
  <p:cSld>
    <p:bg>
      <p:bgPr>
        <a:solidFill xmlns:a="http://schemas.openxmlformats.org/drawingml/2006/main">
          <a:srgbClr val="0A111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ED812B-7059-49BD-A570-62B09A4CC695}"/>
              </a:ext>
            </a:extLst>
          </p:cNvPr>
          <p:cNvSpPr>
            <a:spLocks xmlns:a="http://schemas.openxmlformats.org/drawingml/2006/main" noGrp="1"/>
          </p:cNvSpPr>
          <p:nvPr/>
        </p:nvSpPr>
        <p:spPr>
          <a:xfrm xmlns:a="http://schemas.openxmlformats.org/drawingml/2006/main">
            <a:off x="666750" y="6667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63E6BD"/>
                </a:solidFill>
                <a:latin typeface="Arial"/>
                <a:ea typeface="Arial"/>
                <a:cs typeface="Arial"/>
              </a:defRPr>
            </a:pPr>
            <a:r>
              <a:rPr sz="1575" b="1">
                <a:solidFill>
                  <a:srgbClr val="63E6BD"/>
                </a:solidFill>
                <a:latin typeface="Arial"/>
                <a:ea typeface="Arial"/>
                <a:cs typeface="Arial"/>
              </a:rPr>
              <a:t>TECHTITAN  /  PROBLEM 06</a:t>
            </a:r>
          </a:p>
        </p:txBody>
      </p:sp>
      <p:sp>
        <p:nvSpPr>
          <p:cNvPr id="2" name="">
            <a:extLst xmlns:a="http://schemas.openxmlformats.org/drawingml/2006/main">
              <a:ext uri="{FF2B5EF4-FFF2-40B4-BE49-F238E27FC236}">
                <a16:creationId xmlns:a16="http://schemas.microsoft.com/office/drawing/2014/main" id="{75C5A57D-2E94-4CCC-866C-68192155C77B}"/>
              </a:ext>
            </a:extLst>
          </p:cNvPr>
          <p:cNvSpPr>
            <a:spLocks xmlns:a="http://schemas.openxmlformats.org/drawingml/2006/main" noGrp="1"/>
          </p:cNvSpPr>
          <p:nvPr/>
        </p:nvSpPr>
        <p:spPr>
          <a:xfrm xmlns:a="http://schemas.openxmlformats.org/drawingml/2006/main">
            <a:off x="609600" y="1847850"/>
            <a:ext cx="1095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EDF5FA"/>
                </a:solidFill>
                <a:latin typeface="Arial"/>
                <a:ea typeface="Arial"/>
                <a:cs typeface="Arial"/>
              </a:defRPr>
            </a:pPr>
            <a:r>
              <a:rPr sz="7200" b="1">
                <a:solidFill>
                  <a:srgbClr val="EDF5FA"/>
                </a:solidFill>
                <a:latin typeface="Arial"/>
                <a:ea typeface="Arial"/>
                <a:cs typeface="Arial"/>
              </a:rPr>
              <a:t>RouteGuard</a:t>
            </a:r>
          </a:p>
        </p:txBody>
      </p:sp>
      <p:sp>
        <p:nvSpPr>
          <p:cNvPr id="3" name="">
            <a:extLst xmlns:a="http://schemas.openxmlformats.org/drawingml/2006/main">
              <a:ext uri="{FF2B5EF4-FFF2-40B4-BE49-F238E27FC236}">
                <a16:creationId xmlns:a16="http://schemas.microsoft.com/office/drawing/2014/main" id="{BEE2113F-8287-40F3-A02F-9D155E2D4E0D}"/>
              </a:ext>
            </a:extLst>
          </p:cNvPr>
          <p:cNvSpPr>
            <a:spLocks xmlns:a="http://schemas.openxmlformats.org/drawingml/2006/main" noGrp="1"/>
          </p:cNvSpPr>
          <p:nvPr/>
        </p:nvSpPr>
        <p:spPr>
          <a:xfrm xmlns:a="http://schemas.openxmlformats.org/drawingml/2006/main">
            <a:off x="666750" y="32289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9EB6C7"/>
                </a:solidFill>
                <a:latin typeface="Arial"/>
                <a:ea typeface="Arial"/>
                <a:cs typeface="Arial"/>
              </a:defRPr>
            </a:pPr>
            <a:r>
              <a:rPr sz="2625" b="0">
                <a:solidFill>
                  <a:srgbClr val="9EB6C7"/>
                </a:solidFill>
                <a:latin typeface="Arial"/>
                <a:ea typeface="Arial"/>
                <a:cs typeface="Arial"/>
              </a:rPr>
              <a:t>Autonomous retail supply chain recovery</a:t>
            </a:r>
          </a:p>
        </p:txBody>
      </p:sp>
      <p:sp>
        <p:nvSpPr>
          <p:cNvPr id="4" name="">
            <a:extLst xmlns:a="http://schemas.openxmlformats.org/drawingml/2006/main">
              <a:ext uri="{FF2B5EF4-FFF2-40B4-BE49-F238E27FC236}">
                <a16:creationId xmlns:a16="http://schemas.microsoft.com/office/drawing/2014/main" id="{C74382EF-2087-4D3A-82FB-EE013A08E7C3}"/>
              </a:ext>
            </a:extLst>
          </p:cNvPr>
          <p:cNvSpPr>
            <a:spLocks xmlns:a="http://schemas.openxmlformats.org/drawingml/2006/main" noGrp="1"/>
          </p:cNvSpPr>
          <p:nvPr/>
        </p:nvSpPr>
        <p:spPr>
          <a:xfrm xmlns:a="http://schemas.openxmlformats.org/drawingml/2006/main">
            <a:off x="666750" y="49053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EDF5FA"/>
                </a:solidFill>
                <a:latin typeface="Arial"/>
                <a:ea typeface="Arial"/>
                <a:cs typeface="Arial"/>
              </a:defRPr>
            </a:pPr>
            <a:r>
              <a:rPr sz="1875" b="0">
                <a:solidFill>
                  <a:srgbClr val="EDF5FA"/>
                </a:solidFill>
                <a:latin typeface="Arial"/>
                <a:ea typeface="Arial"/>
                <a:cs typeface="Arial"/>
              </a:rPr>
              <a:t>Gaurav Vyas · Team leader</a:t>
            </a:r>
          </a:p>
          <a:p xmlns:a="http://schemas.openxmlformats.org/drawingml/2006/main">
            <a:pPr>
              <a:defRPr sz="1875" b="0">
                <a:solidFill>
                  <a:srgbClr val="EDF5FA"/>
                </a:solidFill>
                <a:latin typeface="Arial"/>
                <a:ea typeface="Arial"/>
                <a:cs typeface="Arial"/>
              </a:defRPr>
            </a:pPr>
            <a:r>
              <a:rPr sz="1875" b="0">
                <a:solidFill>
                  <a:srgbClr val="EDF5FA"/>
                </a:solidFill>
                <a:latin typeface="Arial"/>
                <a:ea typeface="Arial"/>
                <a:cs typeface="Arial"/>
              </a:rPr>
              <a:t>Utkarsh Umang · Shivam Salve</a:t>
            </a:r>
          </a:p>
        </p:txBody>
      </p:sp>
      <p:sp>
        <p:nvSpPr>
          <p:cNvPr id="5" name="">
            <a:extLst xmlns:a="http://schemas.openxmlformats.org/drawingml/2006/main">
              <a:ext uri="{FF2B5EF4-FFF2-40B4-BE49-F238E27FC236}">
                <a16:creationId xmlns:a16="http://schemas.microsoft.com/office/drawing/2014/main" id="{D4785739-1831-415A-865D-005E3E5AA32B}"/>
              </a:ext>
            </a:extLst>
          </p:cNvPr>
          <p:cNvSpPr>
            <a:spLocks xmlns:a="http://schemas.openxmlformats.org/drawingml/2006/main" noGrp="1"/>
          </p:cNvSpPr>
          <p:nvPr/>
        </p:nvSpPr>
        <p:spPr>
          <a:xfrm xmlns:a="http://schemas.openxmlformats.org/drawingml/2006/main">
            <a:off x="666750" y="61626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9EB6C7"/>
                </a:solidFill>
                <a:latin typeface="Arial"/>
                <a:ea typeface="Arial"/>
                <a:cs typeface="Arial"/>
              </a:defRPr>
            </a:pPr>
            <a:r>
              <a:rPr sz="1425" b="0">
                <a:solidFill>
                  <a:srgbClr val="9EB6C7"/>
                </a:solidFill>
                <a:latin typeface="Arial"/>
                <a:ea typeface="Arial"/>
                <a:cs typeface="Arial"/>
              </a:rPr>
              <a:t>Agentic AI Hackathon · Tech Zephyr 4.0 · IIT Bhubaneswar</a:t>
            </a:r>
          </a:p>
        </p:txBody>
      </p:sp>
    </p:spTree>
    <p:extLst>
      <p:ext uri="{BB962C8B-B14F-4D97-AF65-F5344CB8AC3E}">
        <p14:creationId xmlns:p14="http://schemas.microsoft.com/office/powerpoint/2010/main" val="587987628"/>
      </p:ext>
    </p:extLst>
  </p:cSld>
</p:sld>
</file>

<file path=ppt/slides/slide2.xml><?xml version="1.0" encoding="utf-8"?>
<p:sld xmlns:p="http://schemas.openxmlformats.org/presentationml/2006/main">
  <p:cSld>
    <p:bg>
      <p:bgPr>
        <a:solidFill xmlns:a="http://schemas.openxmlformats.org/drawingml/2006/main">
          <a:srgbClr val="0A111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314E51-A9A5-426C-9857-7CA0E3D5B4F3}"/>
              </a:ext>
            </a:extLst>
          </p:cNvPr>
          <p:cNvSpPr>
            <a:spLocks xmlns:a="http://schemas.openxmlformats.org/drawingml/2006/main" noGrp="1"/>
          </p:cNvSpPr>
          <p:nvPr/>
        </p:nvSpPr>
        <p:spPr>
          <a:xfrm xmlns:a="http://schemas.openxmlformats.org/drawingml/2006/main">
            <a:off x="609600" y="4572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DF5FA"/>
                </a:solidFill>
                <a:latin typeface="Arial"/>
                <a:ea typeface="Arial"/>
                <a:cs typeface="Arial"/>
              </a:defRPr>
            </a:pPr>
            <a:r>
              <a:rPr sz="3300" b="1">
                <a:solidFill>
                  <a:srgbClr val="EDF5FA"/>
                </a:solidFill>
                <a:latin typeface="Arial"/>
                <a:ea typeface="Arial"/>
                <a:cs typeface="Arial"/>
              </a:rPr>
              <a:t>The recovery problem</a:t>
            </a:r>
          </a:p>
        </p:txBody>
      </p:sp>
      <p:sp>
        <p:nvSpPr>
          <p:cNvPr id="2" name="">
            <a:extLst xmlns:a="http://schemas.openxmlformats.org/drawingml/2006/main">
              <a:ext uri="{FF2B5EF4-FFF2-40B4-BE49-F238E27FC236}">
                <a16:creationId xmlns:a16="http://schemas.microsoft.com/office/drawing/2014/main" id="{BEB1006B-7E64-4BDB-B002-34B0184D15CF}"/>
              </a:ext>
            </a:extLst>
          </p:cNvPr>
          <p:cNvSpPr>
            <a:spLocks xmlns:a="http://schemas.openxmlformats.org/drawingml/2006/main" noGrp="1"/>
          </p:cNvSpPr>
          <p:nvPr/>
        </p:nvSpPr>
        <p:spPr>
          <a:xfrm xmlns:a="http://schemas.openxmlformats.org/drawingml/2006/main">
            <a:off x="628650" y="12573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EB6C7"/>
                </a:solidFill>
                <a:latin typeface="Arial"/>
                <a:ea typeface="Arial"/>
                <a:cs typeface="Arial"/>
              </a:defRPr>
            </a:pPr>
            <a:r>
              <a:rPr sz="1725" b="0">
                <a:solidFill>
                  <a:srgbClr val="9EB6C7"/>
                </a:solidFill>
                <a:latin typeface="Arial"/>
                <a:ea typeface="Arial"/>
                <a:cs typeface="Arial"/>
              </a:rPr>
              <a:t>A late shipment threatens store inventory; the recovery must respect every constraint.</a:t>
            </a:r>
          </a:p>
        </p:txBody>
      </p:sp>
      <p:sp>
        <p:nvSpPr>
          <p:cNvPr id="3" name="">
            <a:extLst xmlns:a="http://schemas.openxmlformats.org/drawingml/2006/main">
              <a:ext uri="{FF2B5EF4-FFF2-40B4-BE49-F238E27FC236}">
                <a16:creationId xmlns:a16="http://schemas.microsoft.com/office/drawing/2014/main" id="{95D97A81-08CB-49EC-9E39-43FC88FF12D5}"/>
              </a:ext>
            </a:extLst>
          </p:cNvPr>
          <p:cNvSpPr>
            <a:spLocks xmlns:a="http://schemas.openxmlformats.org/drawingml/2006/main" noGrp="1"/>
          </p:cNvSpPr>
          <p:nvPr/>
        </p:nvSpPr>
        <p:spPr>
          <a:xfrm xmlns:a="http://schemas.openxmlformats.org/drawingml/2006/main">
            <a:off x="628650" y="63722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9EB6C7"/>
                </a:solidFill>
                <a:latin typeface="Arial"/>
                <a:ea typeface="Arial"/>
                <a:cs typeface="Arial"/>
              </a:defRPr>
            </a:pPr>
            <a:r>
              <a:rPr sz="1125" b="0">
                <a:solidFill>
                  <a:srgbClr val="9EB6C7"/>
                </a:solidFill>
                <a:latin typeface="Arial"/>
                <a:ea typeface="Arial"/>
                <a:cs typeface="Arial"/>
              </a:rPr>
              <a:t>TechTitan  /  RouteGuard                                         02</a:t>
            </a:r>
          </a:p>
        </p:txBody>
      </p:sp>
      <p:sp>
        <p:nvSpPr>
          <p:cNvPr id="4" name="">
            <a:extLst xmlns:a="http://schemas.openxmlformats.org/drawingml/2006/main">
              <a:ext uri="{FF2B5EF4-FFF2-40B4-BE49-F238E27FC236}">
                <a16:creationId xmlns:a16="http://schemas.microsoft.com/office/drawing/2014/main" id="{EA4A43A8-672C-4BC1-A6F1-390EAD163DC5}"/>
              </a:ext>
            </a:extLst>
          </p:cNvPr>
          <p:cNvSpPr>
            <a:spLocks xmlns:a="http://schemas.openxmlformats.org/drawingml/2006/main" noGrp="1"/>
          </p:cNvSpPr>
          <p:nvPr/>
        </p:nvSpPr>
        <p:spPr>
          <a:xfrm xmlns:a="http://schemas.openxmlformats.org/drawingml/2006/main">
            <a:off x="619125" y="2324100"/>
            <a:ext cx="542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63E6BD"/>
                </a:solidFill>
                <a:latin typeface="Arial"/>
                <a:ea typeface="Arial"/>
                <a:cs typeface="Arial"/>
              </a:defRPr>
            </a:pPr>
            <a:r>
              <a:rPr sz="5400" b="1">
                <a:solidFill>
                  <a:srgbClr val="63E6BD"/>
                </a:solidFill>
                <a:latin typeface="Arial"/>
                <a:ea typeface="Arial"/>
                <a:cs typeface="Arial"/>
              </a:rPr>
              <a:t>100 units</a:t>
            </a:r>
          </a:p>
        </p:txBody>
      </p:sp>
      <p:sp>
        <p:nvSpPr>
          <p:cNvPr id="5" name="">
            <a:extLst xmlns:a="http://schemas.openxmlformats.org/drawingml/2006/main">
              <a:ext uri="{FF2B5EF4-FFF2-40B4-BE49-F238E27FC236}">
                <a16:creationId xmlns:a16="http://schemas.microsoft.com/office/drawing/2014/main" id="{8D5AC2E4-DFAE-41F3-A2A5-9E598334E958}"/>
              </a:ext>
            </a:extLst>
          </p:cNvPr>
          <p:cNvSpPr>
            <a:spLocks xmlns:a="http://schemas.openxmlformats.org/drawingml/2006/main" noGrp="1"/>
          </p:cNvSpPr>
          <p:nvPr/>
        </p:nvSpPr>
        <p:spPr>
          <a:xfrm xmlns:a="http://schemas.openxmlformats.org/drawingml/2006/main">
            <a:off x="666750" y="3286125"/>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DF5FA"/>
                </a:solidFill>
                <a:latin typeface="Arial"/>
                <a:ea typeface="Arial"/>
                <a:cs typeface="Arial"/>
              </a:defRPr>
            </a:pPr>
            <a:r>
              <a:rPr sz="2100" b="0">
                <a:solidFill>
                  <a:srgbClr val="EDF5FA"/>
                </a:solidFill>
                <a:latin typeface="Arial"/>
                <a:ea typeface="Arial"/>
                <a:cs typeface="Arial"/>
              </a:rPr>
              <a:t>needed before the deadline</a:t>
            </a:r>
          </a:p>
        </p:txBody>
      </p:sp>
      <p:sp>
        <p:nvSpPr>
          <p:cNvPr id="6" name="">
            <a:extLst xmlns:a="http://schemas.openxmlformats.org/drawingml/2006/main">
              <a:ext uri="{FF2B5EF4-FFF2-40B4-BE49-F238E27FC236}">
                <a16:creationId xmlns:a16="http://schemas.microsoft.com/office/drawing/2014/main" id="{F8A86BB0-6F18-46A5-9553-35C10349EDA3}"/>
              </a:ext>
            </a:extLst>
          </p:cNvPr>
          <p:cNvSpPr>
            <a:spLocks xmlns:a="http://schemas.openxmlformats.org/drawingml/2006/main" noGrp="1"/>
          </p:cNvSpPr>
          <p:nvPr/>
        </p:nvSpPr>
        <p:spPr>
          <a:xfrm xmlns:a="http://schemas.openxmlformats.org/drawingml/2006/main">
            <a:off x="7048500" y="2228850"/>
            <a:ext cx="433387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EDF5FA"/>
                </a:solidFill>
                <a:latin typeface="Arial"/>
                <a:ea typeface="Arial"/>
                <a:cs typeface="Arial"/>
              </a:defRPr>
            </a:pPr>
            <a:r>
              <a:rPr sz="2625" b="0">
                <a:solidFill>
                  <a:srgbClr val="EDF5FA"/>
                </a:solidFill>
                <a:latin typeface="Arial"/>
                <a:ea typeface="Arial"/>
                <a:cs typeface="Arial"/>
              </a:rPr>
              <a:t>INR 14,000 budget</a:t>
            </a:r>
          </a:p>
          <a:p xmlns:a="http://schemas.openxmlformats.org/drawingml/2006/main">
            <a:pPr>
              <a:defRPr sz="2625" b="0">
                <a:solidFill>
                  <a:srgbClr val="EDF5FA"/>
                </a:solidFill>
                <a:latin typeface="Arial"/>
                <a:ea typeface="Arial"/>
                <a:cs typeface="Arial"/>
              </a:defRPr>
            </a:pPr>
            <a:r>
              <a:rPr sz="2625" b="0">
                <a:solidFill>
                  <a:srgbClr val="EDF5FA"/>
                </a:solidFill>
                <a:latin typeface="Arial"/>
                <a:ea typeface="Arial"/>
                <a:cs typeface="Arial"/>
              </a:rPr>
              <a:t>24-hour deadline</a:t>
            </a:r>
          </a:p>
          <a:p xmlns:a="http://schemas.openxmlformats.org/drawingml/2006/main">
            <a:pPr>
              <a:defRPr sz="2625" b="0">
                <a:solidFill>
                  <a:srgbClr val="EDF5FA"/>
                </a:solidFill>
                <a:latin typeface="Arial"/>
                <a:ea typeface="Arial"/>
                <a:cs typeface="Arial"/>
              </a:defRPr>
            </a:pPr>
            <a:r>
              <a:rPr sz="2625" b="0">
                <a:solidFill>
                  <a:srgbClr val="EDF5FA"/>
                </a:solidFill>
                <a:latin typeface="Arial"/>
                <a:ea typeface="Arial"/>
                <a:cs typeface="Arial"/>
              </a:rPr>
              <a:t>110 kg CO2e limit</a:t>
            </a:r>
          </a:p>
        </p:txBody>
      </p:sp>
      <p:sp>
        <p:nvSpPr>
          <p:cNvPr id="7" name="">
            <a:extLst xmlns:a="http://schemas.openxmlformats.org/drawingml/2006/main">
              <a:ext uri="{FF2B5EF4-FFF2-40B4-BE49-F238E27FC236}">
                <a16:creationId xmlns:a16="http://schemas.microsoft.com/office/drawing/2014/main" id="{9478C2C6-183A-4C22-976F-CCA3DC4FCD07}"/>
              </a:ext>
            </a:extLst>
          </p:cNvPr>
          <p:cNvSpPr>
            <a:spLocks xmlns:a="http://schemas.openxmlformats.org/drawingml/2006/main" noGrp="1"/>
          </p:cNvSpPr>
          <p:nvPr/>
        </p:nvSpPr>
        <p:spPr>
          <a:xfrm xmlns:a="http://schemas.openxmlformats.org/drawingml/2006/main">
            <a:off x="666750" y="46005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9EB6C7"/>
                </a:solidFill>
                <a:latin typeface="Arial"/>
                <a:ea typeface="Arial"/>
                <a:cs typeface="Arial"/>
              </a:defRPr>
            </a:pPr>
            <a:r>
              <a:rPr sz="2100" b="0">
                <a:solidFill>
                  <a:srgbClr val="9EB6C7"/>
                </a:solidFill>
                <a:latin typeface="Arial"/>
                <a:ea typeface="Arial"/>
                <a:cs typeface="Arial"/>
              </a:rPr>
              <a:t>Target users: retail operations teams coordinating inventory, suppliers and transport.</a:t>
            </a:r>
          </a:p>
        </p:txBody>
      </p:sp>
      <p:sp>
        <p:nvSpPr>
          <p:cNvPr id="8" name="">
            <a:extLst xmlns:a="http://schemas.openxmlformats.org/drawingml/2006/main">
              <a:ext uri="{FF2B5EF4-FFF2-40B4-BE49-F238E27FC236}">
                <a16:creationId xmlns:a16="http://schemas.microsoft.com/office/drawing/2014/main" id="{84214979-53BC-4618-8C7B-B425123E0195}"/>
              </a:ext>
            </a:extLst>
          </p:cNvPr>
          <p:cNvSpPr>
            <a:spLocks xmlns:a="http://schemas.openxmlformats.org/drawingml/2006/main" noGrp="1"/>
          </p:cNvSpPr>
          <p:nvPr/>
        </p:nvSpPr>
        <p:spPr>
          <a:xfrm xmlns:a="http://schemas.openxmlformats.org/drawingml/2006/main">
            <a:off x="666750" y="55816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9EB6C7"/>
                </a:solidFill>
                <a:latin typeface="Arial"/>
                <a:ea typeface="Arial"/>
                <a:cs typeface="Arial"/>
              </a:defRPr>
            </a:pPr>
            <a:r>
              <a:rPr sz="1650" b="0">
                <a:solidFill>
                  <a:srgbClr val="9EB6C7"/>
                </a:solidFill>
                <a:latin typeface="Arial"/>
                <a:ea typeface="Arial"/>
                <a:cs typeface="Arial"/>
              </a:rPr>
              <a:t>Simulation: 20 units on hand; demand 120; original shipment ETA 36 hours.</a:t>
            </a:r>
          </a:p>
        </p:txBody>
      </p:sp>
    </p:spTree>
    <p:extLst>
      <p:ext uri="{BB962C8B-B14F-4D97-AF65-F5344CB8AC3E}">
        <p14:creationId xmlns:p14="http://schemas.microsoft.com/office/powerpoint/2010/main" val="2027379442"/>
      </p:ext>
    </p:extLst>
  </p:cSld>
</p:sld>
</file>

<file path=ppt/slides/slide3.xml><?xml version="1.0" encoding="utf-8"?>
<p:sld xmlns:p="http://schemas.openxmlformats.org/presentationml/2006/main">
  <p:cSld>
    <p:bg>
      <p:bgPr>
        <a:solidFill xmlns:a="http://schemas.openxmlformats.org/drawingml/2006/main">
          <a:srgbClr val="0A111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855EB98-6A77-4EA5-B444-3B033B2EC93B}"/>
              </a:ext>
            </a:extLst>
          </p:cNvPr>
          <p:cNvSpPr>
            <a:spLocks xmlns:a="http://schemas.openxmlformats.org/drawingml/2006/main" noGrp="1"/>
          </p:cNvSpPr>
          <p:nvPr/>
        </p:nvSpPr>
        <p:spPr>
          <a:xfrm xmlns:a="http://schemas.openxmlformats.org/drawingml/2006/main">
            <a:off x="609600" y="4572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DF5FA"/>
                </a:solidFill>
                <a:latin typeface="Arial"/>
                <a:ea typeface="Arial"/>
                <a:cs typeface="Arial"/>
              </a:defRPr>
            </a:pPr>
            <a:r>
              <a:rPr sz="3300" b="1">
                <a:solidFill>
                  <a:srgbClr val="EDF5FA"/>
                </a:solidFill>
                <a:latin typeface="Arial"/>
                <a:ea typeface="Arial"/>
                <a:cs typeface="Arial"/>
              </a:rPr>
              <a:t>A goal-driven recovery loop</a:t>
            </a:r>
          </a:p>
        </p:txBody>
      </p:sp>
      <p:sp>
        <p:nvSpPr>
          <p:cNvPr id="2" name="">
            <a:extLst xmlns:a="http://schemas.openxmlformats.org/drawingml/2006/main">
              <a:ext uri="{FF2B5EF4-FFF2-40B4-BE49-F238E27FC236}">
                <a16:creationId xmlns:a16="http://schemas.microsoft.com/office/drawing/2014/main" id="{B6BEA0C5-C0DC-409C-8CC9-77C5A2D0F454}"/>
              </a:ext>
            </a:extLst>
          </p:cNvPr>
          <p:cNvSpPr>
            <a:spLocks xmlns:a="http://schemas.openxmlformats.org/drawingml/2006/main" noGrp="1"/>
          </p:cNvSpPr>
          <p:nvPr/>
        </p:nvSpPr>
        <p:spPr>
          <a:xfrm xmlns:a="http://schemas.openxmlformats.org/drawingml/2006/main">
            <a:off x="628650" y="12573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EB6C7"/>
                </a:solidFill>
                <a:latin typeface="Arial"/>
                <a:ea typeface="Arial"/>
                <a:cs typeface="Arial"/>
              </a:defRPr>
            </a:pPr>
            <a:r>
              <a:rPr sz="1725" b="0">
                <a:solidFill>
                  <a:srgbClr val="9EB6C7"/>
                </a:solidFill>
                <a:latin typeface="Arial"/>
                <a:ea typeface="Arial"/>
                <a:cs typeface="Arial"/>
              </a:rPr>
              <a:t>Actions change the environment; observations determine the next action.</a:t>
            </a:r>
          </a:p>
        </p:txBody>
      </p:sp>
      <p:sp>
        <p:nvSpPr>
          <p:cNvPr id="3" name="">
            <a:extLst xmlns:a="http://schemas.openxmlformats.org/drawingml/2006/main">
              <a:ext uri="{FF2B5EF4-FFF2-40B4-BE49-F238E27FC236}">
                <a16:creationId xmlns:a16="http://schemas.microsoft.com/office/drawing/2014/main" id="{4795BF5D-5981-4CFA-B5AD-C94F8FA03972}"/>
              </a:ext>
            </a:extLst>
          </p:cNvPr>
          <p:cNvSpPr>
            <a:spLocks xmlns:a="http://schemas.openxmlformats.org/drawingml/2006/main" noGrp="1"/>
          </p:cNvSpPr>
          <p:nvPr/>
        </p:nvSpPr>
        <p:spPr>
          <a:xfrm xmlns:a="http://schemas.openxmlformats.org/drawingml/2006/main">
            <a:off x="628650" y="63722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9EB6C7"/>
                </a:solidFill>
                <a:latin typeface="Arial"/>
                <a:ea typeface="Arial"/>
                <a:cs typeface="Arial"/>
              </a:defRPr>
            </a:pPr>
            <a:r>
              <a:rPr sz="1125" b="0">
                <a:solidFill>
                  <a:srgbClr val="9EB6C7"/>
                </a:solidFill>
                <a:latin typeface="Arial"/>
                <a:ea typeface="Arial"/>
                <a:cs typeface="Arial"/>
              </a:rPr>
              <a:t>TechTitan  /  RouteGuard                                         03</a:t>
            </a:r>
          </a:p>
        </p:txBody>
      </p:sp>
      <p:sp>
        <p:nvSpPr>
          <p:cNvPr id="4" name="">
            <a:extLst xmlns:a="http://schemas.openxmlformats.org/drawingml/2006/main">
              <a:ext uri="{FF2B5EF4-FFF2-40B4-BE49-F238E27FC236}">
                <a16:creationId xmlns:a16="http://schemas.microsoft.com/office/drawing/2014/main" id="{F25B595A-3536-4E61-AEB7-716D38F7975D}"/>
              </a:ext>
            </a:extLst>
          </p:cNvPr>
          <p:cNvSpPr>
            <a:spLocks xmlns:a="http://schemas.openxmlformats.org/drawingml/2006/main" noGrp="1"/>
          </p:cNvSpPr>
          <p:nvPr/>
        </p:nvSpPr>
        <p:spPr>
          <a:xfrm xmlns:a="http://schemas.openxmlformats.org/drawingml/2006/main">
            <a:off x="619125" y="2438400"/>
            <a:ext cx="2333625" cy="1000125"/>
          </a:xfrm>
          <a:prstGeom xmlns:a="http://schemas.openxmlformats.org/drawingml/2006/main" prst="rect">
            <a:avLst/>
          </a:prstGeom>
          <a:solidFill xmlns:a="http://schemas.openxmlformats.org/drawingml/2006/main">
            <a:srgbClr val="142833"/>
          </a:solidFill>
          <a:ln xmlns:a="http://schemas.openxmlformats.org/drawingml/2006/main" w="9525">
            <a:solidFill>
              <a:srgbClr val="315060"/>
            </a:solidFill>
          </a:ln>
        </p:spPr>
        <p:txBody>
          <a:bodyPr xmlns:a="http://schemas.openxmlformats.org/drawingml/2006/main" anchor="ctr"/>
          <a:lstStyle xmlns:a="http://schemas.openxmlformats.org/drawingml/2006/main"/>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Observe</a:t>
            </a:r>
          </a:p>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shortage</a:t>
            </a:r>
          </a:p>
        </p:txBody>
      </p:sp>
      <p:sp>
        <p:nvSpPr>
          <p:cNvPr id="5" name="">
            <a:extLst xmlns:a="http://schemas.openxmlformats.org/drawingml/2006/main">
              <a:ext uri="{FF2B5EF4-FFF2-40B4-BE49-F238E27FC236}">
                <a16:creationId xmlns:a16="http://schemas.microsoft.com/office/drawing/2014/main" id="{FEF2B006-CE36-41FB-A95A-374092322714}"/>
              </a:ext>
            </a:extLst>
          </p:cNvPr>
          <p:cNvSpPr>
            <a:spLocks xmlns:a="http://schemas.openxmlformats.org/drawingml/2006/main" noGrp="1"/>
          </p:cNvSpPr>
          <p:nvPr/>
        </p:nvSpPr>
        <p:spPr>
          <a:xfrm xmlns:a="http://schemas.openxmlformats.org/drawingml/2006/main">
            <a:off x="3476625" y="2438400"/>
            <a:ext cx="2333625" cy="1000125"/>
          </a:xfrm>
          <a:prstGeom xmlns:a="http://schemas.openxmlformats.org/drawingml/2006/main" prst="rect">
            <a:avLst/>
          </a:prstGeom>
          <a:solidFill xmlns:a="http://schemas.openxmlformats.org/drawingml/2006/main">
            <a:srgbClr val="142833"/>
          </a:solidFill>
          <a:ln xmlns:a="http://schemas.openxmlformats.org/drawingml/2006/main" w="9525">
            <a:solidFill>
              <a:srgbClr val="315060"/>
            </a:solidFill>
          </a:ln>
        </p:spPr>
        <p:txBody>
          <a:bodyPr xmlns:a="http://schemas.openxmlformats.org/drawingml/2006/main" anchor="ctr"/>
          <a:lstStyle xmlns:a="http://schemas.openxmlformats.org/drawingml/2006/main"/>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Search</a:t>
            </a:r>
          </a:p>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allocations</a:t>
            </a:r>
          </a:p>
        </p:txBody>
      </p:sp>
      <p:sp>
        <p:nvSpPr>
          <p:cNvPr id="6" name="">
            <a:extLst xmlns:a="http://schemas.openxmlformats.org/drawingml/2006/main">
              <a:ext uri="{FF2B5EF4-FFF2-40B4-BE49-F238E27FC236}">
                <a16:creationId xmlns:a16="http://schemas.microsoft.com/office/drawing/2014/main" id="{A1AA291A-F69F-4B09-87CC-D1E414196C13}"/>
              </a:ext>
            </a:extLst>
          </p:cNvPr>
          <p:cNvSpPr>
            <a:spLocks xmlns:a="http://schemas.openxmlformats.org/drawingml/2006/main" noGrp="1"/>
          </p:cNvSpPr>
          <p:nvPr/>
        </p:nvSpPr>
        <p:spPr>
          <a:xfrm xmlns:a="http://schemas.openxmlformats.org/drawingml/2006/main">
            <a:off x="6334125" y="2438400"/>
            <a:ext cx="2333625" cy="1000125"/>
          </a:xfrm>
          <a:prstGeom xmlns:a="http://schemas.openxmlformats.org/drawingml/2006/main" prst="rect">
            <a:avLst/>
          </a:prstGeom>
          <a:solidFill xmlns:a="http://schemas.openxmlformats.org/drawingml/2006/main">
            <a:srgbClr val="142833"/>
          </a:solidFill>
          <a:ln xmlns:a="http://schemas.openxmlformats.org/drawingml/2006/main" w="9525">
            <a:solidFill>
              <a:srgbClr val="315060"/>
            </a:solidFill>
          </a:ln>
        </p:spPr>
        <p:txBody>
          <a:bodyPr xmlns:a="http://schemas.openxmlformats.org/drawingml/2006/main" anchor="ctr"/>
          <a:lstStyle xmlns:a="http://schemas.openxmlformats.org/drawingml/2006/main"/>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Commit</a:t>
            </a:r>
          </a:p>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reservations</a:t>
            </a:r>
          </a:p>
        </p:txBody>
      </p:sp>
      <p:sp>
        <p:nvSpPr>
          <p:cNvPr id="7" name="">
            <a:extLst xmlns:a="http://schemas.openxmlformats.org/drawingml/2006/main">
              <a:ext uri="{FF2B5EF4-FFF2-40B4-BE49-F238E27FC236}">
                <a16:creationId xmlns:a16="http://schemas.microsoft.com/office/drawing/2014/main" id="{02355794-6406-48DC-AC32-454A8CFED2A2}"/>
              </a:ext>
            </a:extLst>
          </p:cNvPr>
          <p:cNvSpPr>
            <a:spLocks xmlns:a="http://schemas.openxmlformats.org/drawingml/2006/main" noGrp="1"/>
          </p:cNvSpPr>
          <p:nvPr/>
        </p:nvSpPr>
        <p:spPr>
          <a:xfrm xmlns:a="http://schemas.openxmlformats.org/drawingml/2006/main">
            <a:off x="9191625" y="2438400"/>
            <a:ext cx="2333625" cy="1000125"/>
          </a:xfrm>
          <a:prstGeom xmlns:a="http://schemas.openxmlformats.org/drawingml/2006/main" prst="rect">
            <a:avLst/>
          </a:prstGeom>
          <a:solidFill xmlns:a="http://schemas.openxmlformats.org/drawingml/2006/main">
            <a:srgbClr val="142833"/>
          </a:solidFill>
          <a:ln xmlns:a="http://schemas.openxmlformats.org/drawingml/2006/main" w="9525">
            <a:solidFill>
              <a:srgbClr val="315060"/>
            </a:solidFill>
          </a:ln>
        </p:spPr>
        <p:txBody>
          <a:bodyPr xmlns:a="http://schemas.openxmlformats.org/drawingml/2006/main" anchor="ctr"/>
          <a:lstStyle xmlns:a="http://schemas.openxmlformats.org/drawingml/2006/main"/>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Verify</a:t>
            </a:r>
          </a:p>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state</a:t>
            </a:r>
          </a:p>
        </p:txBody>
      </p: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2952750" y="2938463"/>
            <a:ext cx="523875" cy="0"/>
          </a:xfrm>
          <a:prstGeom xmlns:a="http://schemas.openxmlformats.org/drawingml/2006/main" prst="straightConnector1">
            <a:avLst/>
          </a:prstGeom>
          <a:ln xmlns:a="http://schemas.openxmlformats.org/drawingml/2006/main" w="19050">
            <a:solidFill>
              <a:srgbClr val="63E6BD"/>
            </a:solidFill>
            <a:tailEnd type="triangle" w="med" len="med"/>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5810250" y="2938463"/>
            <a:ext cx="523875" cy="0"/>
          </a:xfrm>
          <a:prstGeom xmlns:a="http://schemas.openxmlformats.org/drawingml/2006/main" prst="straightConnector1">
            <a:avLst/>
          </a:prstGeom>
          <a:ln xmlns:a="http://schemas.openxmlformats.org/drawingml/2006/main" w="19050">
            <a:solidFill>
              <a:srgbClr val="63E6BD"/>
            </a:solidFill>
            <a:tailEnd type="triangle" w="med" len="med"/>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8667750" y="2938463"/>
            <a:ext cx="523875" cy="0"/>
          </a:xfrm>
          <a:prstGeom xmlns:a="http://schemas.openxmlformats.org/drawingml/2006/main" prst="straightConnector1">
            <a:avLst/>
          </a:prstGeom>
          <a:ln xmlns:a="http://schemas.openxmlformats.org/drawingml/2006/main" w="19050">
            <a:solidFill>
              <a:srgbClr val="63E6BD"/>
            </a:solidFill>
            <a:tailEnd type="triangle" w="med" len="med"/>
          </a:ln>
        </p:spPr>
      </p:cxnSp>
      <p:sp>
        <p:nvSpPr>
          <p:cNvPr id="11" name="">
            <a:extLst xmlns:a="http://schemas.openxmlformats.org/drawingml/2006/main">
              <a:ext uri="{FF2B5EF4-FFF2-40B4-BE49-F238E27FC236}">
                <a16:creationId xmlns:a16="http://schemas.microsoft.com/office/drawing/2014/main" id="{AACA066D-C7B1-4B0D-9FE7-39142F4C10FD}"/>
              </a:ext>
            </a:extLst>
          </p:cNvPr>
          <p:cNvSpPr>
            <a:spLocks xmlns:a="http://schemas.openxmlformats.org/drawingml/2006/main" noGrp="1"/>
          </p:cNvSpPr>
          <p:nvPr/>
        </p:nvSpPr>
        <p:spPr>
          <a:xfrm xmlns:a="http://schemas.openxmlformats.org/drawingml/2006/main">
            <a:off x="685800" y="40481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3E6BD"/>
                </a:solidFill>
                <a:latin typeface="Arial"/>
                <a:ea typeface="Arial"/>
                <a:cs typeface="Arial"/>
              </a:defRPr>
            </a:pPr>
            <a:r>
              <a:rPr sz="2325" b="1">
                <a:solidFill>
                  <a:srgbClr val="63E6BD"/>
                </a:solidFill>
                <a:latin typeface="Arial"/>
                <a:ea typeface="Arial"/>
                <a:cs typeface="Arial"/>
              </a:rPr>
              <a:t>Tool rejection or changed conditions → refresh state → replan</a:t>
            </a:r>
          </a:p>
        </p:txBody>
      </p:sp>
      <p:sp>
        <p:nvSpPr>
          <p:cNvPr id="12" name="">
            <a:extLst xmlns:a="http://schemas.openxmlformats.org/drawingml/2006/main">
              <a:ext uri="{FF2B5EF4-FFF2-40B4-BE49-F238E27FC236}">
                <a16:creationId xmlns:a16="http://schemas.microsoft.com/office/drawing/2014/main" id="{9624EF72-1845-4B83-B4BE-1CDFF4B1AC14}"/>
              </a:ext>
            </a:extLst>
          </p:cNvPr>
          <p:cNvSpPr>
            <a:spLocks xmlns:a="http://schemas.openxmlformats.org/drawingml/2006/main" noGrp="1"/>
          </p:cNvSpPr>
          <p:nvPr/>
        </p:nvSpPr>
        <p:spPr>
          <a:xfrm xmlns:a="http://schemas.openxmlformats.org/drawingml/2006/main">
            <a:off x="685800" y="506730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9EB6C7"/>
                </a:solidFill>
                <a:latin typeface="Arial"/>
                <a:ea typeface="Arial"/>
                <a:cs typeface="Arial"/>
              </a:defRPr>
            </a:pPr>
            <a:r>
              <a:rPr sz="2025" b="0">
                <a:solidFill>
                  <a:srgbClr val="9EB6C7"/>
                </a:solidFill>
                <a:latin typeface="Arial"/>
                <a:ea typeface="Arial"/>
                <a:cs typeface="Arial"/>
              </a:rPr>
              <a:t>Persistent memory: goal, catalog revision, orders, ledger, receipts and event history.</a:t>
            </a:r>
          </a:p>
        </p:txBody>
      </p:sp>
    </p:spTree>
    <p:extLst>
      <p:ext uri="{BB962C8B-B14F-4D97-AF65-F5344CB8AC3E}">
        <p14:creationId xmlns:p14="http://schemas.microsoft.com/office/powerpoint/2010/main" val="1144430655"/>
      </p:ext>
    </p:extLst>
  </p:cSld>
</p:sld>
</file>

<file path=ppt/slides/slide4.xml><?xml version="1.0" encoding="utf-8"?>
<p:sld xmlns:p="http://schemas.openxmlformats.org/presentationml/2006/main">
  <p:cSld>
    <p:bg>
      <p:bgPr>
        <a:solidFill xmlns:a="http://schemas.openxmlformats.org/drawingml/2006/main">
          <a:srgbClr val="0A1119"/>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3691CCF-8F08-47F0-8CC2-BC612A73C8DF}"/>
              </a:ext>
            </a:extLst>
          </p:cNvPr>
          <p:cNvSpPr>
            <a:spLocks xmlns:a="http://schemas.openxmlformats.org/drawingml/2006/main" noGrp="1"/>
          </p:cNvSpPr>
          <p:nvPr/>
        </p:nvSpPr>
        <p:spPr>
          <a:xfrm xmlns:a="http://schemas.openxmlformats.org/drawingml/2006/main">
            <a:off x="609600" y="4572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DF5FA"/>
                </a:solidFill>
                <a:latin typeface="Arial"/>
                <a:ea typeface="Arial"/>
                <a:cs typeface="Arial"/>
              </a:defRPr>
            </a:pPr>
            <a:r>
              <a:rPr sz="3300" b="1">
                <a:solidFill>
                  <a:srgbClr val="EDF5FA"/>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18BB1E3F-60CE-402D-84E6-598E69F5FF74}"/>
              </a:ext>
            </a:extLst>
          </p:cNvPr>
          <p:cNvSpPr>
            <a:spLocks xmlns:a="http://schemas.openxmlformats.org/drawingml/2006/main" noGrp="1"/>
          </p:cNvSpPr>
          <p:nvPr/>
        </p:nvSpPr>
        <p:spPr>
          <a:xfrm xmlns:a="http://schemas.openxmlformats.org/drawingml/2006/main">
            <a:off x="628650" y="12573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EB6C7"/>
                </a:solidFill>
                <a:latin typeface="Arial"/>
                <a:ea typeface="Arial"/>
                <a:cs typeface="Arial"/>
              </a:defRPr>
            </a:pPr>
            <a:r>
              <a:rPr sz="1725" b="0">
                <a:solidFill>
                  <a:srgbClr val="9EB6C7"/>
                </a:solidFill>
                <a:latin typeface="Arial"/>
                <a:ea typeface="Arial"/>
                <a:cs typeface="Arial"/>
              </a:rPr>
              <a:t>Local tools and persistent state; no credentials or internet needed to run.</a:t>
            </a:r>
          </a:p>
        </p:txBody>
      </p:sp>
      <p:sp>
        <p:nvSpPr>
          <p:cNvPr id="3" name="">
            <a:extLst xmlns:a="http://schemas.openxmlformats.org/drawingml/2006/main">
              <a:ext uri="{FF2B5EF4-FFF2-40B4-BE49-F238E27FC236}">
                <a16:creationId xmlns:a16="http://schemas.microsoft.com/office/drawing/2014/main" id="{CC6BAC2E-DC4C-470F-A09F-13CDFE0A3383}"/>
              </a:ext>
            </a:extLst>
          </p:cNvPr>
          <p:cNvSpPr>
            <a:spLocks xmlns:a="http://schemas.openxmlformats.org/drawingml/2006/main" noGrp="1"/>
          </p:cNvSpPr>
          <p:nvPr/>
        </p:nvSpPr>
        <p:spPr>
          <a:xfrm xmlns:a="http://schemas.openxmlformats.org/drawingml/2006/main">
            <a:off x="628650" y="63722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9EB6C7"/>
                </a:solidFill>
                <a:latin typeface="Arial"/>
                <a:ea typeface="Arial"/>
                <a:cs typeface="Arial"/>
              </a:defRPr>
            </a:pPr>
            <a:r>
              <a:rPr sz="1125" b="0">
                <a:solidFill>
                  <a:srgbClr val="9EB6C7"/>
                </a:solidFill>
                <a:latin typeface="Arial"/>
                <a:ea typeface="Arial"/>
                <a:cs typeface="Arial"/>
              </a:rPr>
              <a:t>TechTitan  /  RouteGuard                                         04</a:t>
            </a:r>
          </a:p>
        </p:txBody>
      </p:sp>
      <p:sp>
        <p:nvSpPr>
          <p:cNvPr id="4" name="">
            <a:extLst xmlns:a="http://schemas.openxmlformats.org/drawingml/2006/main">
              <a:ext uri="{FF2B5EF4-FFF2-40B4-BE49-F238E27FC236}">
                <a16:creationId xmlns:a16="http://schemas.microsoft.com/office/drawing/2014/main" id="{2609E7D6-F3A2-4E42-BB96-659D279EF4AD}"/>
              </a:ext>
            </a:extLst>
          </p:cNvPr>
          <p:cNvSpPr>
            <a:spLocks xmlns:a="http://schemas.openxmlformats.org/drawingml/2006/main" noGrp="1"/>
          </p:cNvSpPr>
          <p:nvPr/>
        </p:nvSpPr>
        <p:spPr>
          <a:xfrm xmlns:a="http://schemas.openxmlformats.org/drawingml/2006/main">
            <a:off x="628650" y="2076450"/>
            <a:ext cx="2381250" cy="742950"/>
          </a:xfrm>
          <a:prstGeom xmlns:a="http://schemas.openxmlformats.org/drawingml/2006/main" prst="rect">
            <a:avLst/>
          </a:prstGeom>
          <a:solidFill xmlns:a="http://schemas.openxmlformats.org/drawingml/2006/main">
            <a:srgbClr val="142833"/>
          </a:solidFill>
          <a:ln xmlns:a="http://schemas.openxmlformats.org/drawingml/2006/main" w="9525">
            <a:solidFill>
              <a:srgbClr val="315060"/>
            </a:solidFill>
          </a:ln>
        </p:spPr>
        <p:txBody>
          <a:bodyPr xmlns:a="http://schemas.openxmlformats.org/drawingml/2006/main" anchor="ctr"/>
          <a:lstStyle xmlns:a="http://schemas.openxmlformats.org/drawingml/2006/main"/>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Operator + browser</a:t>
            </a:r>
          </a:p>
        </p:txBody>
      </p:sp>
      <p:sp>
        <p:nvSpPr>
          <p:cNvPr id="5" name="">
            <a:extLst xmlns:a="http://schemas.openxmlformats.org/drawingml/2006/main">
              <a:ext uri="{FF2B5EF4-FFF2-40B4-BE49-F238E27FC236}">
                <a16:creationId xmlns:a16="http://schemas.microsoft.com/office/drawing/2014/main" id="{E54A3AD0-DEBF-44B1-B55A-1030701022C4}"/>
              </a:ext>
            </a:extLst>
          </p:cNvPr>
          <p:cNvSpPr>
            <a:spLocks xmlns:a="http://schemas.openxmlformats.org/drawingml/2006/main" noGrp="1"/>
          </p:cNvSpPr>
          <p:nvPr/>
        </p:nvSpPr>
        <p:spPr>
          <a:xfrm xmlns:a="http://schemas.openxmlformats.org/drawingml/2006/main">
            <a:off x="3495675" y="2076450"/>
            <a:ext cx="2381250" cy="742950"/>
          </a:xfrm>
          <a:prstGeom xmlns:a="http://schemas.openxmlformats.org/drawingml/2006/main" prst="rect">
            <a:avLst/>
          </a:prstGeom>
          <a:solidFill xmlns:a="http://schemas.openxmlformats.org/drawingml/2006/main">
            <a:srgbClr val="142833"/>
          </a:solidFill>
          <a:ln xmlns:a="http://schemas.openxmlformats.org/drawingml/2006/main" w="9525">
            <a:solidFill>
              <a:srgbClr val="315060"/>
            </a:solidFill>
          </a:ln>
        </p:spPr>
        <p:txBody>
          <a:bodyPr xmlns:a="http://schemas.openxmlformats.org/drawingml/2006/main" anchor="ctr"/>
          <a:lstStyle xmlns:a="http://schemas.openxmlformats.org/drawingml/2006/main"/>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Goal controller</a:t>
            </a:r>
          </a:p>
        </p:txBody>
      </p:sp>
      <p:sp>
        <p:nvSpPr>
          <p:cNvPr id="6" name="">
            <a:extLst xmlns:a="http://schemas.openxmlformats.org/drawingml/2006/main">
              <a:ext uri="{FF2B5EF4-FFF2-40B4-BE49-F238E27FC236}">
                <a16:creationId xmlns:a16="http://schemas.microsoft.com/office/drawing/2014/main" id="{B8B3B5F2-BCA2-404A-A730-46B919E03792}"/>
              </a:ext>
            </a:extLst>
          </p:cNvPr>
          <p:cNvSpPr>
            <a:spLocks xmlns:a="http://schemas.openxmlformats.org/drawingml/2006/main" noGrp="1"/>
          </p:cNvSpPr>
          <p:nvPr/>
        </p:nvSpPr>
        <p:spPr>
          <a:xfrm xmlns:a="http://schemas.openxmlformats.org/drawingml/2006/main">
            <a:off x="9001125" y="2076450"/>
            <a:ext cx="2524125" cy="742950"/>
          </a:xfrm>
          <a:prstGeom xmlns:a="http://schemas.openxmlformats.org/drawingml/2006/main" prst="rect">
            <a:avLst/>
          </a:prstGeom>
          <a:solidFill xmlns:a="http://schemas.openxmlformats.org/drawingml/2006/main">
            <a:srgbClr val="142833"/>
          </a:solidFill>
          <a:ln xmlns:a="http://schemas.openxmlformats.org/drawingml/2006/main" w="9525">
            <a:solidFill>
              <a:srgbClr val="315060"/>
            </a:solidFill>
          </a:ln>
        </p:spPr>
        <p:txBody>
          <a:bodyPr xmlns:a="http://schemas.openxmlformats.org/drawingml/2006/main" anchor="ctr"/>
          <a:lstStyle xmlns:a="http://schemas.openxmlformats.org/drawingml/2006/main"/>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SQLite state</a:t>
            </a:r>
          </a:p>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 event history</a:t>
            </a:r>
          </a:p>
        </p:txBody>
      </p: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3009900" y="2447925"/>
            <a:ext cx="485775" cy="0"/>
          </a:xfrm>
          <a:prstGeom xmlns:a="http://schemas.openxmlformats.org/drawingml/2006/main" prst="straightConnector1">
            <a:avLst/>
          </a:prstGeom>
          <a:ln xmlns:a="http://schemas.openxmlformats.org/drawingml/2006/main" w="19050">
            <a:solidFill>
              <a:srgbClr val="63E6BD"/>
            </a:solidFill>
            <a:tailEnd type="triangle" w="med" len="med"/>
          </a:ln>
        </p:spPr>
      </p:cxnSp>
      <p:cxnSp>
        <p:nvCxnSpPr>
          <p:cNvPr id="25" name=""/>
          <p:cNvCxnSpPr>
            <a:stCxn xmlns:a="http://schemas.openxmlformats.org/drawingml/2006/main" id="5" idx="3"/>
            <a:endCxn xmlns:a="http://schemas.openxmlformats.org/drawingml/2006/main" id="6" idx="1"/>
          </p:cNvCxnSpPr>
          <p:nvPr/>
        </p:nvCxnSpPr>
        <p:spPr>
          <a:xfrm xmlns:a="http://schemas.openxmlformats.org/drawingml/2006/main">
            <a:off x="5876925" y="2447925"/>
            <a:ext cx="3124200" cy="0"/>
          </a:xfrm>
          <a:prstGeom xmlns:a="http://schemas.openxmlformats.org/drawingml/2006/main" prst="straightConnector1">
            <a:avLst/>
          </a:prstGeom>
          <a:ln xmlns:a="http://schemas.openxmlformats.org/drawingml/2006/main" w="19050">
            <a:solidFill>
              <a:srgbClr val="63E6BD"/>
            </a:solidFill>
            <a:tailEnd type="triangle" w="med" len="med"/>
          </a:ln>
        </p:spPr>
      </p:cxnSp>
      <p:sp>
        <p:nvSpPr>
          <p:cNvPr id="9" name="">
            <a:extLst xmlns:a="http://schemas.openxmlformats.org/drawingml/2006/main">
              <a:ext uri="{FF2B5EF4-FFF2-40B4-BE49-F238E27FC236}">
                <a16:creationId xmlns:a16="http://schemas.microsoft.com/office/drawing/2014/main" id="{102C9BEA-837F-4A11-9B0B-8D3BDAB501C8}"/>
              </a:ext>
            </a:extLst>
          </p:cNvPr>
          <p:cNvSpPr>
            <a:spLocks xmlns:a="http://schemas.openxmlformats.org/drawingml/2006/main" noGrp="1"/>
          </p:cNvSpPr>
          <p:nvPr/>
        </p:nvSpPr>
        <p:spPr>
          <a:xfrm xmlns:a="http://schemas.openxmlformats.org/drawingml/2006/main">
            <a:off x="628650" y="3952875"/>
            <a:ext cx="2381250" cy="857250"/>
          </a:xfrm>
          <a:prstGeom xmlns:a="http://schemas.openxmlformats.org/drawingml/2006/main" prst="rect">
            <a:avLst/>
          </a:prstGeom>
          <a:solidFill xmlns:a="http://schemas.openxmlformats.org/drawingml/2006/main">
            <a:srgbClr val="142833"/>
          </a:solidFill>
          <a:ln xmlns:a="http://schemas.openxmlformats.org/drawingml/2006/main" w="9525">
            <a:solidFill>
              <a:srgbClr val="315060"/>
            </a:solidFill>
          </a:ln>
        </p:spPr>
        <p:txBody>
          <a:bodyPr xmlns:a="http://schemas.openxmlformats.org/drawingml/2006/main" anchor="ctr"/>
          <a:lstStyle xmlns:a="http://schemas.openxmlformats.org/drawingml/2006/main"/>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Inventory +</a:t>
            </a:r>
          </a:p>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route lookup</a:t>
            </a:r>
          </a:p>
        </p:txBody>
      </p:sp>
      <p:sp>
        <p:nvSpPr>
          <p:cNvPr id="10" name="">
            <a:extLst xmlns:a="http://schemas.openxmlformats.org/drawingml/2006/main">
              <a:ext uri="{FF2B5EF4-FFF2-40B4-BE49-F238E27FC236}">
                <a16:creationId xmlns:a16="http://schemas.microsoft.com/office/drawing/2014/main" id="{21E7F9F0-4BDF-4156-9343-45B2CD778894}"/>
              </a:ext>
            </a:extLst>
          </p:cNvPr>
          <p:cNvSpPr>
            <a:spLocks xmlns:a="http://schemas.openxmlformats.org/drawingml/2006/main" noGrp="1"/>
          </p:cNvSpPr>
          <p:nvPr/>
        </p:nvSpPr>
        <p:spPr>
          <a:xfrm xmlns:a="http://schemas.openxmlformats.org/drawingml/2006/main">
            <a:off x="3495675" y="3952875"/>
            <a:ext cx="2381250" cy="857250"/>
          </a:xfrm>
          <a:prstGeom xmlns:a="http://schemas.openxmlformats.org/drawingml/2006/main" prst="rect">
            <a:avLst/>
          </a:prstGeom>
          <a:solidFill xmlns:a="http://schemas.openxmlformats.org/drawingml/2006/main">
            <a:srgbClr val="142833"/>
          </a:solidFill>
          <a:ln xmlns:a="http://schemas.openxmlformats.org/drawingml/2006/main" w="9525">
            <a:solidFill>
              <a:srgbClr val="315060"/>
            </a:solidFill>
          </a:ln>
        </p:spPr>
        <p:txBody>
          <a:bodyPr xmlns:a="http://schemas.openxmlformats.org/drawingml/2006/main" anchor="ctr"/>
          <a:lstStyle xmlns:a="http://schemas.openxmlformats.org/drawingml/2006/main"/>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Exact allocation</a:t>
            </a:r>
          </a:p>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optimizer</a:t>
            </a:r>
          </a:p>
        </p:txBody>
      </p:sp>
      <p:sp>
        <p:nvSpPr>
          <p:cNvPr id="11" name="">
            <a:extLst xmlns:a="http://schemas.openxmlformats.org/drawingml/2006/main">
              <a:ext uri="{FF2B5EF4-FFF2-40B4-BE49-F238E27FC236}">
                <a16:creationId xmlns:a16="http://schemas.microsoft.com/office/drawing/2014/main" id="{D1E3452F-522B-48AE-BF3A-7EF43B39996C}"/>
              </a:ext>
            </a:extLst>
          </p:cNvPr>
          <p:cNvSpPr>
            <a:spLocks xmlns:a="http://schemas.openxmlformats.org/drawingml/2006/main" noGrp="1"/>
          </p:cNvSpPr>
          <p:nvPr/>
        </p:nvSpPr>
        <p:spPr>
          <a:xfrm xmlns:a="http://schemas.openxmlformats.org/drawingml/2006/main">
            <a:off x="6343650" y="3952875"/>
            <a:ext cx="2381250" cy="857250"/>
          </a:xfrm>
          <a:prstGeom xmlns:a="http://schemas.openxmlformats.org/drawingml/2006/main" prst="rect">
            <a:avLst/>
          </a:prstGeom>
          <a:solidFill xmlns:a="http://schemas.openxmlformats.org/drawingml/2006/main">
            <a:srgbClr val="142833"/>
          </a:solidFill>
          <a:ln xmlns:a="http://schemas.openxmlformats.org/drawingml/2006/main" w="9525">
            <a:solidFill>
              <a:srgbClr val="315060"/>
            </a:solidFill>
          </a:ln>
        </p:spPr>
        <p:txBody>
          <a:bodyPr xmlns:a="http://schemas.openxmlformats.org/drawingml/2006/main" anchor="ctr"/>
          <a:lstStyle xmlns:a="http://schemas.openxmlformats.org/drawingml/2006/main"/>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Atomic commit</a:t>
            </a:r>
          </a:p>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 cancellation</a:t>
            </a:r>
          </a:p>
        </p:txBody>
      </p:sp>
      <p:sp>
        <p:nvSpPr>
          <p:cNvPr id="12" name="">
            <a:extLst xmlns:a="http://schemas.openxmlformats.org/drawingml/2006/main">
              <a:ext uri="{FF2B5EF4-FFF2-40B4-BE49-F238E27FC236}">
                <a16:creationId xmlns:a16="http://schemas.microsoft.com/office/drawing/2014/main" id="{065CA170-3ADA-4EAA-9299-C235887E98B9}"/>
              </a:ext>
            </a:extLst>
          </p:cNvPr>
          <p:cNvSpPr>
            <a:spLocks xmlns:a="http://schemas.openxmlformats.org/drawingml/2006/main" noGrp="1"/>
          </p:cNvSpPr>
          <p:nvPr/>
        </p:nvSpPr>
        <p:spPr>
          <a:xfrm xmlns:a="http://schemas.openxmlformats.org/drawingml/2006/main">
            <a:off x="9191625" y="3952875"/>
            <a:ext cx="2333625" cy="857250"/>
          </a:xfrm>
          <a:prstGeom xmlns:a="http://schemas.openxmlformats.org/drawingml/2006/main" prst="rect">
            <a:avLst/>
          </a:prstGeom>
          <a:solidFill xmlns:a="http://schemas.openxmlformats.org/drawingml/2006/main">
            <a:srgbClr val="142833"/>
          </a:solidFill>
          <a:ln xmlns:a="http://schemas.openxmlformats.org/drawingml/2006/main" w="9525">
            <a:solidFill>
              <a:srgbClr val="315060"/>
            </a:solidFill>
          </a:ln>
        </p:spPr>
        <p:txBody>
          <a:bodyPr xmlns:a="http://schemas.openxmlformats.org/drawingml/2006/main" anchor="ctr"/>
          <a:lstStyle xmlns:a="http://schemas.openxmlformats.org/drawingml/2006/main"/>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Independent</a:t>
            </a:r>
          </a:p>
          <a:p xmlns:a="http://schemas.openxmlformats.org/drawingml/2006/main">
            <a:pPr algn="ctr">
              <a:defRPr sz="1800">
                <a:solidFill>
                  <a:srgbClr val="EDF5FA"/>
                </a:solidFill>
                <a:latin typeface="Arial"/>
                <a:ea typeface="Arial"/>
                <a:cs typeface="Arial"/>
              </a:defRPr>
            </a:pPr>
            <a:r>
              <a:rPr sz="1800">
                <a:solidFill>
                  <a:srgbClr val="EDF5FA"/>
                </a:solidFill>
                <a:latin typeface="Arial"/>
                <a:ea typeface="Arial"/>
                <a:cs typeface="Arial"/>
              </a:rPr>
              <a:t>state verifier</a:t>
            </a:r>
          </a:p>
        </p:txBody>
      </p:sp>
      <p:cxnSp>
        <p:nvCxnSpPr>
          <p:cNvPr id="30" name=""/>
          <p:cNvCxnSpPr>
            <a:stCxn xmlns:a="http://schemas.openxmlformats.org/drawingml/2006/main" id="5" idx="2"/>
            <a:endCxn xmlns:a="http://schemas.openxmlformats.org/drawingml/2006/main" id="10" idx="0"/>
          </p:cNvCxnSpPr>
          <p:nvPr/>
        </p:nvCxnSpPr>
        <p:spPr>
          <a:xfrm xmlns:a="http://schemas.openxmlformats.org/drawingml/2006/main">
            <a:off x="4686300" y="2819400"/>
            <a:ext cx="0" cy="1133475"/>
          </a:xfrm>
          <a:prstGeom xmlns:a="http://schemas.openxmlformats.org/drawingml/2006/main" prst="straightConnector1">
            <a:avLst/>
          </a:prstGeom>
          <a:ln xmlns:a="http://schemas.openxmlformats.org/drawingml/2006/main" w="19050">
            <a:solidFill>
              <a:srgbClr val="63E6BD"/>
            </a:solidFill>
            <a:tailEnd type="triangle" w="med" len="med"/>
          </a:ln>
        </p:spPr>
      </p:cxnSp>
      <p:cxnSp>
        <p:nvCxnSpPr>
          <p:cNvPr id="31" name=""/>
          <p:cNvCxnSpPr>
            <a:stCxn xmlns:a="http://schemas.openxmlformats.org/drawingml/2006/main" id="9" idx="3"/>
            <a:endCxn xmlns:a="http://schemas.openxmlformats.org/drawingml/2006/main" id="10" idx="1"/>
          </p:cNvCxnSpPr>
          <p:nvPr/>
        </p:nvCxnSpPr>
        <p:spPr>
          <a:xfrm xmlns:a="http://schemas.openxmlformats.org/drawingml/2006/main">
            <a:off x="3009900" y="4381500"/>
            <a:ext cx="485775" cy="0"/>
          </a:xfrm>
          <a:prstGeom xmlns:a="http://schemas.openxmlformats.org/drawingml/2006/main" prst="straightConnector1">
            <a:avLst/>
          </a:prstGeom>
          <a:ln xmlns:a="http://schemas.openxmlformats.org/drawingml/2006/main" w="19050">
            <a:solidFill>
              <a:srgbClr val="63E6BD"/>
            </a:solidFill>
            <a:tailEnd type="triangle" w="med" len="med"/>
          </a:ln>
        </p:spPr>
      </p:cxnSp>
      <p:cxnSp>
        <p:nvCxnSpPr>
          <p:cNvPr id="32" name=""/>
          <p:cNvCxnSpPr>
            <a:stCxn xmlns:a="http://schemas.openxmlformats.org/drawingml/2006/main" id="10" idx="3"/>
            <a:endCxn xmlns:a="http://schemas.openxmlformats.org/drawingml/2006/main" id="11" idx="1"/>
          </p:cNvCxnSpPr>
          <p:nvPr/>
        </p:nvCxnSpPr>
        <p:spPr>
          <a:xfrm xmlns:a="http://schemas.openxmlformats.org/drawingml/2006/main">
            <a:off x="5876925" y="4381500"/>
            <a:ext cx="466725" cy="0"/>
          </a:xfrm>
          <a:prstGeom xmlns:a="http://schemas.openxmlformats.org/drawingml/2006/main" prst="straightConnector1">
            <a:avLst/>
          </a:prstGeom>
          <a:ln xmlns:a="http://schemas.openxmlformats.org/drawingml/2006/main" w="19050">
            <a:solidFill>
              <a:srgbClr val="63E6BD"/>
            </a:solidFill>
            <a:tailEnd type="triangle" w="med" len="med"/>
          </a:ln>
        </p:spPr>
      </p:cxnSp>
      <p:cxnSp>
        <p:nvCxnSpPr>
          <p:cNvPr id="33" name=""/>
          <p:cNvCxnSpPr>
            <a:stCxn xmlns:a="http://schemas.openxmlformats.org/drawingml/2006/main" id="11" idx="3"/>
            <a:endCxn xmlns:a="http://schemas.openxmlformats.org/drawingml/2006/main" id="12" idx="1"/>
          </p:cNvCxnSpPr>
          <p:nvPr/>
        </p:nvCxnSpPr>
        <p:spPr>
          <a:xfrm xmlns:a="http://schemas.openxmlformats.org/drawingml/2006/main">
            <a:off x="8724900" y="4381500"/>
            <a:ext cx="466725" cy="0"/>
          </a:xfrm>
          <a:prstGeom xmlns:a="http://schemas.openxmlformats.org/drawingml/2006/main" prst="straightConnector1">
            <a:avLst/>
          </a:prstGeom>
          <a:ln xmlns:a="http://schemas.openxmlformats.org/drawingml/2006/main" w="19050">
            <a:solidFill>
              <a:srgbClr val="63E6BD"/>
            </a:solidFill>
            <a:tailEnd type="triangle" w="med" len="med"/>
          </a:ln>
        </p:spPr>
      </p:cxnSp>
      <p:sp>
        <p:nvSpPr>
          <p:cNvPr id="17" name="">
            <a:extLst xmlns:a="http://schemas.openxmlformats.org/drawingml/2006/main">
              <a:ext uri="{FF2B5EF4-FFF2-40B4-BE49-F238E27FC236}">
                <a16:creationId xmlns:a16="http://schemas.microsoft.com/office/drawing/2014/main" id="{C3900878-DAED-47F6-BE84-CC2310AA5EBC}"/>
              </a:ext>
            </a:extLst>
          </p:cNvPr>
          <p:cNvSpPr>
            <a:spLocks xmlns:a="http://schemas.openxmlformats.org/drawingml/2006/main" noGrp="1"/>
          </p:cNvSpPr>
          <p:nvPr/>
        </p:nvSpPr>
        <p:spPr>
          <a:xfrm xmlns:a="http://schemas.openxmlformats.org/drawingml/2006/main">
            <a:off x="647700" y="538162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9EB6C7"/>
                </a:solidFill>
                <a:latin typeface="Arial"/>
                <a:ea typeface="Arial"/>
                <a:cs typeface="Arial"/>
              </a:defRPr>
            </a:pPr>
            <a:r>
              <a:rPr sz="1950" b="0">
                <a:solidFill>
                  <a:srgbClr val="9EB6C7"/>
                </a:solidFill>
                <a:latin typeface="Arial"/>
                <a:ea typeface="Arial"/>
                <a:cs typeface="Arial"/>
              </a:rPr>
              <a:t>Failure feedback returns to the controller; unresolved cases go to operator review.</a:t>
            </a:r>
          </a:p>
        </p:txBody>
      </p:sp>
    </p:spTree>
    <p:extLst>
      <p:ext uri="{BB962C8B-B14F-4D97-AF65-F5344CB8AC3E}">
        <p14:creationId xmlns:p14="http://schemas.microsoft.com/office/powerpoint/2010/main" val="1660134843"/>
      </p:ext>
    </p:extLst>
  </p:cSld>
</p:sld>
</file>

<file path=ppt/slides/slide5.xml><?xml version="1.0" encoding="utf-8"?>
<p:sld xmlns:p="http://schemas.openxmlformats.org/presentationml/2006/main">
  <p:cSld>
    <p:bg>
      <p:bgPr>
        <a:solidFill xmlns:a="http://schemas.openxmlformats.org/drawingml/2006/main">
          <a:srgbClr val="0A1119"/>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EFD8424-3923-4523-97B5-A59B503A0644}"/>
              </a:ext>
            </a:extLst>
          </p:cNvPr>
          <p:cNvSpPr>
            <a:spLocks xmlns:a="http://schemas.openxmlformats.org/drawingml/2006/main" noGrp="1"/>
          </p:cNvSpPr>
          <p:nvPr/>
        </p:nvSpPr>
        <p:spPr>
          <a:xfrm xmlns:a="http://schemas.openxmlformats.org/drawingml/2006/main">
            <a:off x="609600" y="4572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DF5FA"/>
                </a:solidFill>
                <a:latin typeface="Arial"/>
                <a:ea typeface="Arial"/>
                <a:cs typeface="Arial"/>
              </a:defRPr>
            </a:pPr>
            <a:r>
              <a:rPr sz="3300" b="1">
                <a:solidFill>
                  <a:srgbClr val="EDF5FA"/>
                </a:solidFill>
                <a:latin typeface="Arial"/>
                <a:ea typeface="Arial"/>
                <a:cs typeface="Arial"/>
              </a:rPr>
              <a:t>Two disruptions, three computed plans</a:t>
            </a:r>
          </a:p>
        </p:txBody>
      </p:sp>
      <p:sp>
        <p:nvSpPr>
          <p:cNvPr id="2" name="">
            <a:extLst xmlns:a="http://schemas.openxmlformats.org/drawingml/2006/main">
              <a:ext uri="{FF2B5EF4-FFF2-40B4-BE49-F238E27FC236}">
                <a16:creationId xmlns:a16="http://schemas.microsoft.com/office/drawing/2014/main" id="{4D067546-17A2-4BAC-BE22-519666445B95}"/>
              </a:ext>
            </a:extLst>
          </p:cNvPr>
          <p:cNvSpPr>
            <a:spLocks xmlns:a="http://schemas.openxmlformats.org/drawingml/2006/main" noGrp="1"/>
          </p:cNvSpPr>
          <p:nvPr/>
        </p:nvSpPr>
        <p:spPr>
          <a:xfrm xmlns:a="http://schemas.openxmlformats.org/drawingml/2006/main">
            <a:off x="628650" y="12573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EB6C7"/>
                </a:solidFill>
                <a:latin typeface="Arial"/>
                <a:ea typeface="Arial"/>
                <a:cs typeface="Arial"/>
              </a:defRPr>
            </a:pPr>
            <a:r>
              <a:rPr sz="1725" b="0">
                <a:solidFill>
                  <a:srgbClr val="9EB6C7"/>
                </a:solidFill>
                <a:latin typeface="Arial"/>
                <a:ea typeface="Arial"/>
                <a:cs typeface="Arial"/>
              </a:rPr>
              <a:t>The agent preserves valid reservations and replans only the remaining shortage.</a:t>
            </a:r>
          </a:p>
        </p:txBody>
      </p:sp>
      <p:sp>
        <p:nvSpPr>
          <p:cNvPr id="3" name="">
            <a:extLst xmlns:a="http://schemas.openxmlformats.org/drawingml/2006/main">
              <a:ext uri="{FF2B5EF4-FFF2-40B4-BE49-F238E27FC236}">
                <a16:creationId xmlns:a16="http://schemas.microsoft.com/office/drawing/2014/main" id="{3EEF97CA-FA01-4193-A199-6C95C8CCD056}"/>
              </a:ext>
            </a:extLst>
          </p:cNvPr>
          <p:cNvSpPr>
            <a:spLocks xmlns:a="http://schemas.openxmlformats.org/drawingml/2006/main" noGrp="1"/>
          </p:cNvSpPr>
          <p:nvPr/>
        </p:nvSpPr>
        <p:spPr>
          <a:xfrm xmlns:a="http://schemas.openxmlformats.org/drawingml/2006/main">
            <a:off x="628650" y="63722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9EB6C7"/>
                </a:solidFill>
                <a:latin typeface="Arial"/>
                <a:ea typeface="Arial"/>
                <a:cs typeface="Arial"/>
              </a:defRPr>
            </a:pPr>
            <a:r>
              <a:rPr sz="1125" b="0">
                <a:solidFill>
                  <a:srgbClr val="9EB6C7"/>
                </a:solidFill>
                <a:latin typeface="Arial"/>
                <a:ea typeface="Arial"/>
                <a:cs typeface="Arial"/>
              </a:rPr>
              <a:t>TechTitan  /  RouteGuard                                         05</a:t>
            </a:r>
          </a:p>
        </p:txBody>
      </p:sp>
      <p:sp>
        <p:nvSpPr>
          <p:cNvPr id="4" name="">
            <a:extLst xmlns:a="http://schemas.openxmlformats.org/drawingml/2006/main">
              <a:ext uri="{FF2B5EF4-FFF2-40B4-BE49-F238E27FC236}">
                <a16:creationId xmlns:a16="http://schemas.microsoft.com/office/drawing/2014/main" id="{5B8F4E23-04DE-4F04-9090-54AE0E0C58E6}"/>
              </a:ext>
            </a:extLst>
          </p:cNvPr>
          <p:cNvSpPr>
            <a:spLocks xmlns:a="http://schemas.openxmlformats.org/drawingml/2006/main" noGrp="1"/>
          </p:cNvSpPr>
          <p:nvPr/>
        </p:nvSpPr>
        <p:spPr>
          <a:xfrm xmlns:a="http://schemas.openxmlformats.org/drawingml/2006/main">
            <a:off x="666750" y="209550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EDF5FA"/>
                </a:solidFill>
                <a:latin typeface="Arial"/>
                <a:ea typeface="Arial"/>
                <a:cs typeface="Arial"/>
              </a:defRPr>
            </a:pPr>
            <a:r>
              <a:rPr sz="2025" b="1">
                <a:solidFill>
                  <a:srgbClr val="EDF5FA"/>
                </a:solidFill>
                <a:latin typeface="Arial"/>
                <a:ea typeface="Arial"/>
                <a:cs typeface="Arial"/>
              </a:rPr>
              <a:t>Initial plan</a:t>
            </a:r>
          </a:p>
        </p:txBody>
      </p:sp>
      <p:sp>
        <p:nvSpPr>
          <p:cNvPr id="5" name="">
            <a:extLst xmlns:a="http://schemas.openxmlformats.org/drawingml/2006/main">
              <a:ext uri="{FF2B5EF4-FFF2-40B4-BE49-F238E27FC236}">
                <a16:creationId xmlns:a16="http://schemas.microsoft.com/office/drawing/2014/main" id="{20FFFE58-E7EE-458F-B56F-3774EBC7560C}"/>
              </a:ext>
            </a:extLst>
          </p:cNvPr>
          <p:cNvSpPr>
            <a:spLocks xmlns:a="http://schemas.openxmlformats.org/drawingml/2006/main" noGrp="1"/>
          </p:cNvSpPr>
          <p:nvPr/>
        </p:nvSpPr>
        <p:spPr>
          <a:xfrm xmlns:a="http://schemas.openxmlformats.org/drawingml/2006/main">
            <a:off x="3143250" y="2095500"/>
            <a:ext cx="790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DF5FA"/>
                </a:solidFill>
                <a:latin typeface="Arial"/>
                <a:ea typeface="Arial"/>
                <a:cs typeface="Arial"/>
              </a:defRPr>
            </a:pPr>
            <a:r>
              <a:rPr sz="2250" b="0">
                <a:solidFill>
                  <a:srgbClr val="EDF5FA"/>
                </a:solidFill>
                <a:latin typeface="Arial"/>
                <a:ea typeface="Arial"/>
                <a:cs typeface="Arial"/>
              </a:rPr>
              <a:t>Cuttack: 100 units</a:t>
            </a:r>
          </a:p>
        </p:txBody>
      </p:sp>
      <p:sp>
        <p:nvSpPr>
          <p:cNvPr id="6" name="">
            <a:extLst xmlns:a="http://schemas.openxmlformats.org/drawingml/2006/main">
              <a:ext uri="{FF2B5EF4-FFF2-40B4-BE49-F238E27FC236}">
                <a16:creationId xmlns:a16="http://schemas.microsoft.com/office/drawing/2014/main" id="{B73F7FC8-B05F-493A-86ED-4C6B9A02D46F}"/>
              </a:ext>
            </a:extLst>
          </p:cNvPr>
          <p:cNvSpPr>
            <a:spLocks xmlns:a="http://schemas.openxmlformats.org/drawingml/2006/main" noGrp="1"/>
          </p:cNvSpPr>
          <p:nvPr/>
        </p:nvSpPr>
        <p:spPr>
          <a:xfrm xmlns:a="http://schemas.openxmlformats.org/drawingml/2006/main">
            <a:off x="3143250" y="2562225"/>
            <a:ext cx="7905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EB6C7"/>
                </a:solidFill>
                <a:latin typeface="Arial"/>
                <a:ea typeface="Arial"/>
                <a:cs typeface="Arial"/>
              </a:defRPr>
            </a:pPr>
            <a:r>
              <a:rPr sz="1800" b="0">
                <a:solidFill>
                  <a:srgbClr val="9EB6C7"/>
                </a:solidFill>
                <a:latin typeface="Arial"/>
                <a:ea typeface="Arial"/>
                <a:cs typeface="Arial"/>
              </a:rPr>
              <a:t>INR 9,000  ·  Rejected: supplier withdrawn</a:t>
            </a:r>
          </a:p>
        </p:txBody>
      </p:sp>
      <p:sp>
        <p:nvSpPr>
          <p:cNvPr id="7" name="">
            <a:extLst xmlns:a="http://schemas.openxmlformats.org/drawingml/2006/main">
              <a:ext uri="{FF2B5EF4-FFF2-40B4-BE49-F238E27FC236}">
                <a16:creationId xmlns:a16="http://schemas.microsoft.com/office/drawing/2014/main" id="{CD74B450-9492-4A42-AE3A-414E050D2805}"/>
              </a:ext>
            </a:extLst>
          </p:cNvPr>
          <p:cNvSpPr>
            <a:spLocks xmlns:a="http://schemas.openxmlformats.org/drawingml/2006/main" noGrp="1"/>
          </p:cNvSpPr>
          <p:nvPr/>
        </p:nvSpPr>
        <p:spPr>
          <a:xfrm xmlns:a="http://schemas.openxmlformats.org/drawingml/2006/main">
            <a:off x="666750" y="333375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EDF5FA"/>
                </a:solidFill>
                <a:latin typeface="Arial"/>
                <a:ea typeface="Arial"/>
                <a:cs typeface="Arial"/>
              </a:defRPr>
            </a:pPr>
            <a:r>
              <a:rPr sz="2025" b="1">
                <a:solidFill>
                  <a:srgbClr val="EDF5FA"/>
                </a:solidFill>
                <a:latin typeface="Arial"/>
                <a:ea typeface="Arial"/>
                <a:cs typeface="Arial"/>
              </a:rPr>
              <a:t>First recovery</a:t>
            </a:r>
          </a:p>
        </p:txBody>
      </p:sp>
      <p:sp>
        <p:nvSpPr>
          <p:cNvPr id="8" name="">
            <a:extLst xmlns:a="http://schemas.openxmlformats.org/drawingml/2006/main">
              <a:ext uri="{FF2B5EF4-FFF2-40B4-BE49-F238E27FC236}">
                <a16:creationId xmlns:a16="http://schemas.microsoft.com/office/drawing/2014/main" id="{3312F7CE-834E-48F7-8428-16BEF154D7CC}"/>
              </a:ext>
            </a:extLst>
          </p:cNvPr>
          <p:cNvSpPr>
            <a:spLocks xmlns:a="http://schemas.openxmlformats.org/drawingml/2006/main" noGrp="1"/>
          </p:cNvSpPr>
          <p:nvPr/>
        </p:nvSpPr>
        <p:spPr>
          <a:xfrm xmlns:a="http://schemas.openxmlformats.org/drawingml/2006/main">
            <a:off x="3143250" y="3333750"/>
            <a:ext cx="790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DF5FA"/>
                </a:solidFill>
                <a:latin typeface="Arial"/>
                <a:ea typeface="Arial"/>
                <a:cs typeface="Arial"/>
              </a:defRPr>
            </a:pPr>
            <a:r>
              <a:rPr sz="2250" b="0">
                <a:solidFill>
                  <a:srgbClr val="EDF5FA"/>
                </a:solidFill>
                <a:latin typeface="Arial"/>
                <a:ea typeface="Arial"/>
                <a:cs typeface="Arial"/>
              </a:rPr>
              <a:t>Puri: 60  +  Khordha: 40</a:t>
            </a:r>
          </a:p>
        </p:txBody>
      </p:sp>
      <p:sp>
        <p:nvSpPr>
          <p:cNvPr id="9" name="">
            <a:extLst xmlns:a="http://schemas.openxmlformats.org/drawingml/2006/main">
              <a:ext uri="{FF2B5EF4-FFF2-40B4-BE49-F238E27FC236}">
                <a16:creationId xmlns:a16="http://schemas.microsoft.com/office/drawing/2014/main" id="{F25CD6BA-4912-4821-A109-E583B606F9D6}"/>
              </a:ext>
            </a:extLst>
          </p:cNvPr>
          <p:cNvSpPr>
            <a:spLocks xmlns:a="http://schemas.openxmlformats.org/drawingml/2006/main" noGrp="1"/>
          </p:cNvSpPr>
          <p:nvPr/>
        </p:nvSpPr>
        <p:spPr>
          <a:xfrm xmlns:a="http://schemas.openxmlformats.org/drawingml/2006/main">
            <a:off x="3143250" y="3800475"/>
            <a:ext cx="7905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EB6C7"/>
                </a:solidFill>
                <a:latin typeface="Arial"/>
                <a:ea typeface="Arial"/>
                <a:cs typeface="Arial"/>
              </a:defRPr>
            </a:pPr>
            <a:r>
              <a:rPr sz="1800" b="0">
                <a:solidFill>
                  <a:srgbClr val="9EB6C7"/>
                </a:solidFill>
                <a:latin typeface="Arial"/>
                <a:ea typeface="Arial"/>
                <a:cs typeface="Arial"/>
              </a:rPr>
              <a:t>INR 10,600  ·  Committed, then Puri closes</a:t>
            </a:r>
          </a:p>
        </p:txBody>
      </p:sp>
      <p:sp>
        <p:nvSpPr>
          <p:cNvPr id="10" name="">
            <a:extLst xmlns:a="http://schemas.openxmlformats.org/drawingml/2006/main">
              <a:ext uri="{FF2B5EF4-FFF2-40B4-BE49-F238E27FC236}">
                <a16:creationId xmlns:a16="http://schemas.microsoft.com/office/drawing/2014/main" id="{4429F6D8-38DF-4170-B9FD-E1EB34D651A2}"/>
              </a:ext>
            </a:extLst>
          </p:cNvPr>
          <p:cNvSpPr>
            <a:spLocks xmlns:a="http://schemas.openxmlformats.org/drawingml/2006/main" noGrp="1"/>
          </p:cNvSpPr>
          <p:nvPr/>
        </p:nvSpPr>
        <p:spPr>
          <a:xfrm xmlns:a="http://schemas.openxmlformats.org/drawingml/2006/main">
            <a:off x="666750" y="4572000"/>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3E6BD"/>
                </a:solidFill>
                <a:latin typeface="Arial"/>
                <a:ea typeface="Arial"/>
                <a:cs typeface="Arial"/>
              </a:defRPr>
            </a:pPr>
            <a:r>
              <a:rPr sz="2025" b="1">
                <a:solidFill>
                  <a:srgbClr val="63E6BD"/>
                </a:solidFill>
                <a:latin typeface="Arial"/>
                <a:ea typeface="Arial"/>
                <a:cs typeface="Arial"/>
              </a:rPr>
              <a:t>Final recovery</a:t>
            </a:r>
          </a:p>
        </p:txBody>
      </p:sp>
      <p:sp>
        <p:nvSpPr>
          <p:cNvPr id="11" name="">
            <a:extLst xmlns:a="http://schemas.openxmlformats.org/drawingml/2006/main">
              <a:ext uri="{FF2B5EF4-FFF2-40B4-BE49-F238E27FC236}">
                <a16:creationId xmlns:a16="http://schemas.microsoft.com/office/drawing/2014/main" id="{50131F0B-6463-485A-8517-339423275E81}"/>
              </a:ext>
            </a:extLst>
          </p:cNvPr>
          <p:cNvSpPr>
            <a:spLocks xmlns:a="http://schemas.openxmlformats.org/drawingml/2006/main" noGrp="1"/>
          </p:cNvSpPr>
          <p:nvPr/>
        </p:nvSpPr>
        <p:spPr>
          <a:xfrm xmlns:a="http://schemas.openxmlformats.org/drawingml/2006/main">
            <a:off x="3143250" y="4572000"/>
            <a:ext cx="790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DF5FA"/>
                </a:solidFill>
                <a:latin typeface="Arial"/>
                <a:ea typeface="Arial"/>
                <a:cs typeface="Arial"/>
              </a:defRPr>
            </a:pPr>
            <a:r>
              <a:rPr sz="2250" b="0">
                <a:solidFill>
                  <a:srgbClr val="EDF5FA"/>
                </a:solidFill>
                <a:latin typeface="Arial"/>
                <a:ea typeface="Arial"/>
                <a:cs typeface="Arial"/>
              </a:rPr>
              <a:t>Khordha: 80  +  Berhampur: 20</a:t>
            </a:r>
          </a:p>
        </p:txBody>
      </p:sp>
      <p:sp>
        <p:nvSpPr>
          <p:cNvPr id="12" name="">
            <a:extLst xmlns:a="http://schemas.openxmlformats.org/drawingml/2006/main">
              <a:ext uri="{FF2B5EF4-FFF2-40B4-BE49-F238E27FC236}">
                <a16:creationId xmlns:a16="http://schemas.microsoft.com/office/drawing/2014/main" id="{8412C2FE-DAD8-49FD-A856-65224908FB7F}"/>
              </a:ext>
            </a:extLst>
          </p:cNvPr>
          <p:cNvSpPr>
            <a:spLocks xmlns:a="http://schemas.openxmlformats.org/drawingml/2006/main" noGrp="1"/>
          </p:cNvSpPr>
          <p:nvPr/>
        </p:nvSpPr>
        <p:spPr>
          <a:xfrm xmlns:a="http://schemas.openxmlformats.org/drawingml/2006/main">
            <a:off x="3143250" y="5038725"/>
            <a:ext cx="7905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EB6C7"/>
                </a:solidFill>
                <a:latin typeface="Arial"/>
                <a:ea typeface="Arial"/>
                <a:cs typeface="Arial"/>
              </a:defRPr>
            </a:pPr>
            <a:r>
              <a:rPr sz="1800" b="0">
                <a:solidFill>
                  <a:srgbClr val="9EB6C7"/>
                </a:solidFill>
                <a:latin typeface="Arial"/>
                <a:ea typeface="Arial"/>
                <a:cs typeface="Arial"/>
              </a:rPr>
              <a:t>INR 11,700  ·  All constraints verified</a:t>
            </a:r>
          </a:p>
        </p:txBody>
      </p:sp>
    </p:spTree>
    <p:extLst>
      <p:ext uri="{BB962C8B-B14F-4D97-AF65-F5344CB8AC3E}">
        <p14:creationId xmlns:p14="http://schemas.microsoft.com/office/powerpoint/2010/main" val="2045194429"/>
      </p:ext>
    </p:extLst>
  </p:cSld>
</p:sld>
</file>

<file path=ppt/slides/slide6.xml><?xml version="1.0" encoding="utf-8"?>
<p:sld xmlns:p="http://schemas.openxmlformats.org/presentationml/2006/main">
  <p:cSld>
    <p:bg>
      <p:bgPr>
        <a:solidFill xmlns:a="http://schemas.openxmlformats.org/drawingml/2006/main">
          <a:srgbClr val="0A111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10013EF-410D-4C0C-AF4C-0C9EAC60889E}"/>
              </a:ext>
            </a:extLst>
          </p:cNvPr>
          <p:cNvSpPr>
            <a:spLocks xmlns:a="http://schemas.openxmlformats.org/drawingml/2006/main" noGrp="1"/>
          </p:cNvSpPr>
          <p:nvPr/>
        </p:nvSpPr>
        <p:spPr>
          <a:xfrm xmlns:a="http://schemas.openxmlformats.org/drawingml/2006/main">
            <a:off x="609600" y="4572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DF5FA"/>
                </a:solidFill>
                <a:latin typeface="Arial"/>
                <a:ea typeface="Arial"/>
                <a:cs typeface="Arial"/>
              </a:defRPr>
            </a:pPr>
            <a:r>
              <a:rPr sz="3300" b="1">
                <a:solidFill>
                  <a:srgbClr val="EDF5FA"/>
                </a:solidFill>
                <a:latin typeface="Arial"/>
                <a:ea typeface="Arial"/>
                <a:cs typeface="Arial"/>
              </a:rPr>
              <a:t>Verified recovery</a:t>
            </a:r>
          </a:p>
        </p:txBody>
      </p:sp>
      <p:sp>
        <p:nvSpPr>
          <p:cNvPr id="2" name="">
            <a:extLst xmlns:a="http://schemas.openxmlformats.org/drawingml/2006/main">
              <a:ext uri="{FF2B5EF4-FFF2-40B4-BE49-F238E27FC236}">
                <a16:creationId xmlns:a16="http://schemas.microsoft.com/office/drawing/2014/main" id="{FDB34E7A-6CC3-4AD9-B17C-70E5C4F049A8}"/>
              </a:ext>
            </a:extLst>
          </p:cNvPr>
          <p:cNvSpPr>
            <a:spLocks xmlns:a="http://schemas.openxmlformats.org/drawingml/2006/main" noGrp="1"/>
          </p:cNvSpPr>
          <p:nvPr/>
        </p:nvSpPr>
        <p:spPr>
          <a:xfrm xmlns:a="http://schemas.openxmlformats.org/drawingml/2006/main">
            <a:off x="628650" y="12573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EB6C7"/>
                </a:solidFill>
                <a:latin typeface="Arial"/>
                <a:ea typeface="Arial"/>
                <a:cs typeface="Arial"/>
              </a:defRPr>
            </a:pPr>
            <a:r>
              <a:rPr sz="1725" b="0">
                <a:solidFill>
                  <a:srgbClr val="9EB6C7"/>
                </a:solidFill>
                <a:latin typeface="Arial"/>
                <a:ea typeface="Arial"/>
                <a:cs typeface="Arial"/>
              </a:rPr>
              <a:t>Independent checks use saved orders, inventory and ledger, rather than cached planner totals.</a:t>
            </a:r>
          </a:p>
        </p:txBody>
      </p:sp>
      <p:sp>
        <p:nvSpPr>
          <p:cNvPr id="3" name="">
            <a:extLst xmlns:a="http://schemas.openxmlformats.org/drawingml/2006/main">
              <a:ext uri="{FF2B5EF4-FFF2-40B4-BE49-F238E27FC236}">
                <a16:creationId xmlns:a16="http://schemas.microsoft.com/office/drawing/2014/main" id="{DF28DE67-CB04-4AC6-875C-03FD8146713A}"/>
              </a:ext>
            </a:extLst>
          </p:cNvPr>
          <p:cNvSpPr>
            <a:spLocks xmlns:a="http://schemas.openxmlformats.org/drawingml/2006/main" noGrp="1"/>
          </p:cNvSpPr>
          <p:nvPr/>
        </p:nvSpPr>
        <p:spPr>
          <a:xfrm xmlns:a="http://schemas.openxmlformats.org/drawingml/2006/main">
            <a:off x="628650" y="63722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9EB6C7"/>
                </a:solidFill>
                <a:latin typeface="Arial"/>
                <a:ea typeface="Arial"/>
                <a:cs typeface="Arial"/>
              </a:defRPr>
            </a:pPr>
            <a:r>
              <a:rPr sz="1125" b="0">
                <a:solidFill>
                  <a:srgbClr val="9EB6C7"/>
                </a:solidFill>
                <a:latin typeface="Arial"/>
                <a:ea typeface="Arial"/>
                <a:cs typeface="Arial"/>
              </a:rPr>
              <a:t>TechTitan  /  RouteGuard                                         06</a:t>
            </a:r>
          </a:p>
        </p:txBody>
      </p:sp>
      <p:sp>
        <p:nvSpPr>
          <p:cNvPr id="4" name="">
            <a:extLst xmlns:a="http://schemas.openxmlformats.org/drawingml/2006/main">
              <a:ext uri="{FF2B5EF4-FFF2-40B4-BE49-F238E27FC236}">
                <a16:creationId xmlns:a16="http://schemas.microsoft.com/office/drawing/2014/main" id="{7BEB94DE-71E4-4A73-B2B1-CB2B1D2185E8}"/>
              </a:ext>
            </a:extLst>
          </p:cNvPr>
          <p:cNvSpPr>
            <a:spLocks xmlns:a="http://schemas.openxmlformats.org/drawingml/2006/main" noGrp="1"/>
          </p:cNvSpPr>
          <p:nvPr/>
        </p:nvSpPr>
        <p:spPr>
          <a:xfrm xmlns:a="http://schemas.openxmlformats.org/drawingml/2006/main">
            <a:off x="638175" y="2238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63E6BD"/>
                </a:solidFill>
                <a:latin typeface="Arial"/>
                <a:ea typeface="Arial"/>
                <a:cs typeface="Arial"/>
              </a:defRPr>
            </a:pPr>
            <a:r>
              <a:rPr sz="6600" b="1">
                <a:solidFill>
                  <a:srgbClr val="63E6BD"/>
                </a:solidFill>
                <a:latin typeface="Arial"/>
                <a:ea typeface="Arial"/>
                <a:cs typeface="Arial"/>
              </a:rPr>
              <a:t>100</a:t>
            </a:r>
          </a:p>
        </p:txBody>
      </p:sp>
      <p:sp>
        <p:nvSpPr>
          <p:cNvPr id="5" name="">
            <a:extLst xmlns:a="http://schemas.openxmlformats.org/drawingml/2006/main">
              <a:ext uri="{FF2B5EF4-FFF2-40B4-BE49-F238E27FC236}">
                <a16:creationId xmlns:a16="http://schemas.microsoft.com/office/drawing/2014/main" id="{696E2632-A787-466B-9AB6-FEE119ABEF12}"/>
              </a:ext>
            </a:extLst>
          </p:cNvPr>
          <p:cNvSpPr>
            <a:spLocks xmlns:a="http://schemas.openxmlformats.org/drawingml/2006/main" noGrp="1"/>
          </p:cNvSpPr>
          <p:nvPr/>
        </p:nvSpPr>
        <p:spPr>
          <a:xfrm xmlns:a="http://schemas.openxmlformats.org/drawingml/2006/main">
            <a:off x="704850" y="334327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DF5FA"/>
                </a:solidFill>
                <a:latin typeface="Arial"/>
                <a:ea typeface="Arial"/>
                <a:cs typeface="Arial"/>
              </a:defRPr>
            </a:pPr>
            <a:r>
              <a:rPr sz="2100" b="0">
                <a:solidFill>
                  <a:srgbClr val="EDF5FA"/>
                </a:solidFill>
                <a:latin typeface="Arial"/>
                <a:ea typeface="Arial"/>
                <a:cs typeface="Arial"/>
              </a:rPr>
              <a:t>recovery units</a:t>
            </a:r>
          </a:p>
        </p:txBody>
      </p:sp>
      <p:sp>
        <p:nvSpPr>
          <p:cNvPr id="6" name="">
            <a:extLst xmlns:a="http://schemas.openxmlformats.org/drawingml/2006/main">
              <a:ext uri="{FF2B5EF4-FFF2-40B4-BE49-F238E27FC236}">
                <a16:creationId xmlns:a16="http://schemas.microsoft.com/office/drawing/2014/main" id="{3ECCC527-CF2B-4C09-8204-93413CE2FED3}"/>
              </a:ext>
            </a:extLst>
          </p:cNvPr>
          <p:cNvSpPr>
            <a:spLocks xmlns:a="http://schemas.openxmlformats.org/drawingml/2006/main" noGrp="1"/>
          </p:cNvSpPr>
          <p:nvPr/>
        </p:nvSpPr>
        <p:spPr>
          <a:xfrm xmlns:a="http://schemas.openxmlformats.org/drawingml/2006/main">
            <a:off x="4686300" y="2409825"/>
            <a:ext cx="638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EDF5FA"/>
                </a:solidFill>
                <a:latin typeface="Arial"/>
                <a:ea typeface="Arial"/>
                <a:cs typeface="Arial"/>
              </a:defRPr>
            </a:pPr>
            <a:r>
              <a:rPr sz="4350" b="1">
                <a:solidFill>
                  <a:srgbClr val="EDF5FA"/>
                </a:solidFill>
                <a:latin typeface="Arial"/>
                <a:ea typeface="Arial"/>
                <a:cs typeface="Arial"/>
              </a:rPr>
              <a:t>INR 11,700</a:t>
            </a:r>
          </a:p>
        </p:txBody>
      </p:sp>
      <p:sp>
        <p:nvSpPr>
          <p:cNvPr id="7" name="">
            <a:extLst xmlns:a="http://schemas.openxmlformats.org/drawingml/2006/main">
              <a:ext uri="{FF2B5EF4-FFF2-40B4-BE49-F238E27FC236}">
                <a16:creationId xmlns:a16="http://schemas.microsoft.com/office/drawing/2014/main" id="{393407B2-553A-4B5A-B072-D605E392D4B1}"/>
              </a:ext>
            </a:extLst>
          </p:cNvPr>
          <p:cNvSpPr>
            <a:spLocks xmlns:a="http://schemas.openxmlformats.org/drawingml/2006/main" noGrp="1"/>
          </p:cNvSpPr>
          <p:nvPr/>
        </p:nvSpPr>
        <p:spPr>
          <a:xfrm xmlns:a="http://schemas.openxmlformats.org/drawingml/2006/main">
            <a:off x="4724400" y="3448050"/>
            <a:ext cx="619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9EB6C7"/>
                </a:solidFill>
                <a:latin typeface="Arial"/>
                <a:ea typeface="Arial"/>
                <a:cs typeface="Arial"/>
              </a:defRPr>
            </a:pPr>
            <a:r>
              <a:rPr sz="2550" b="0">
                <a:solidFill>
                  <a:srgbClr val="9EB6C7"/>
                </a:solidFill>
                <a:latin typeface="Arial"/>
                <a:ea typeface="Arial"/>
                <a:cs typeface="Arial"/>
              </a:rPr>
              <a:t>38 kg CO2e    /    latest ETA 22 h</a:t>
            </a:r>
          </a:p>
        </p:txBody>
      </p:sp>
      <p:sp>
        <p:nvSpPr>
          <p:cNvPr id="8" name="">
            <a:extLst xmlns:a="http://schemas.openxmlformats.org/drawingml/2006/main">
              <a:ext uri="{FF2B5EF4-FFF2-40B4-BE49-F238E27FC236}">
                <a16:creationId xmlns:a16="http://schemas.microsoft.com/office/drawing/2014/main" id="{0AA58DE6-F4E0-47C0-9003-FFEF0DDD8D8F}"/>
              </a:ext>
            </a:extLst>
          </p:cNvPr>
          <p:cNvSpPr>
            <a:spLocks xmlns:a="http://schemas.openxmlformats.org/drawingml/2006/main" noGrp="1"/>
          </p:cNvSpPr>
          <p:nvPr/>
        </p:nvSpPr>
        <p:spPr>
          <a:xfrm xmlns:a="http://schemas.openxmlformats.org/drawingml/2006/main">
            <a:off x="704850" y="4657725"/>
            <a:ext cx="9906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63E6BD"/>
                </a:solidFill>
                <a:latin typeface="Arial"/>
                <a:ea typeface="Arial"/>
                <a:cs typeface="Arial"/>
              </a:defRPr>
            </a:pPr>
            <a:r>
              <a:rPr sz="2700" b="1">
                <a:solidFill>
                  <a:srgbClr val="63E6BD"/>
                </a:solidFill>
                <a:latin typeface="Arial"/>
                <a:ea typeface="Arial"/>
                <a:cs typeface="Arial"/>
              </a:rPr>
              <a:t>10 checks passed</a:t>
            </a:r>
          </a:p>
        </p:txBody>
      </p:sp>
      <p:sp>
        <p:nvSpPr>
          <p:cNvPr id="9" name="">
            <a:extLst xmlns:a="http://schemas.openxmlformats.org/drawingml/2006/main">
              <a:ext uri="{FF2B5EF4-FFF2-40B4-BE49-F238E27FC236}">
                <a16:creationId xmlns:a16="http://schemas.microsoft.com/office/drawing/2014/main" id="{66907F25-837C-4E80-B2A3-F26F7F8A3362}"/>
              </a:ext>
            </a:extLst>
          </p:cNvPr>
          <p:cNvSpPr>
            <a:spLocks xmlns:a="http://schemas.openxmlformats.org/drawingml/2006/main" noGrp="1"/>
          </p:cNvSpPr>
          <p:nvPr/>
        </p:nvSpPr>
        <p:spPr>
          <a:xfrm xmlns:a="http://schemas.openxmlformats.org/drawingml/2006/main">
            <a:off x="704850" y="531495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9EB6C7"/>
                </a:solidFill>
                <a:latin typeface="Arial"/>
                <a:ea typeface="Arial"/>
                <a:cs typeface="Arial"/>
              </a:defRPr>
            </a:pPr>
            <a:r>
              <a:rPr sz="1800" b="0">
                <a:solidFill>
                  <a:srgbClr val="9EB6C7"/>
                </a:solidFill>
                <a:latin typeface="Arial"/>
                <a:ea typeface="Arial"/>
                <a:cs typeface="Arial"/>
              </a:rPr>
              <a:t>Quantity · cost · carbon · deadline · routes · ledger · order IDs · stock · prices · receipts</a:t>
            </a:r>
          </a:p>
        </p:txBody>
      </p:sp>
    </p:spTree>
    <p:extLst>
      <p:ext uri="{BB962C8B-B14F-4D97-AF65-F5344CB8AC3E}">
        <p14:creationId xmlns:p14="http://schemas.microsoft.com/office/powerpoint/2010/main" val="976673857"/>
      </p:ext>
    </p:extLst>
  </p:cSld>
</p:sld>
</file>

<file path=ppt/slides/slide7.xml><?xml version="1.0" encoding="utf-8"?>
<p:sld xmlns:p="http://schemas.openxmlformats.org/presentationml/2006/main">
  <p:cSld>
    <p:bg>
      <p:bgPr>
        <a:solidFill xmlns:a="http://schemas.openxmlformats.org/drawingml/2006/main">
          <a:srgbClr val="0A1119"/>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C07094-D89B-482E-A7CA-FF21C795C2C1}"/>
              </a:ext>
            </a:extLst>
          </p:cNvPr>
          <p:cNvSpPr>
            <a:spLocks xmlns:a="http://schemas.openxmlformats.org/drawingml/2006/main" noGrp="1"/>
          </p:cNvSpPr>
          <p:nvPr/>
        </p:nvSpPr>
        <p:spPr>
          <a:xfrm xmlns:a="http://schemas.openxmlformats.org/drawingml/2006/main">
            <a:off x="609600" y="4572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DF5FA"/>
                </a:solidFill>
                <a:latin typeface="Arial"/>
                <a:ea typeface="Arial"/>
                <a:cs typeface="Arial"/>
              </a:defRPr>
            </a:pPr>
            <a:r>
              <a:rPr sz="3300" b="1">
                <a:solidFill>
                  <a:srgbClr val="EDF5FA"/>
                </a:solidFill>
                <a:latin typeface="Arial"/>
                <a:ea typeface="Arial"/>
                <a:cs typeface="Arial"/>
              </a:rPr>
              <a:t>Reproducible evaluation</a:t>
            </a:r>
          </a:p>
        </p:txBody>
      </p:sp>
      <p:sp>
        <p:nvSpPr>
          <p:cNvPr id="2" name="">
            <a:extLst xmlns:a="http://schemas.openxmlformats.org/drawingml/2006/main">
              <a:ext uri="{FF2B5EF4-FFF2-40B4-BE49-F238E27FC236}">
                <a16:creationId xmlns:a16="http://schemas.microsoft.com/office/drawing/2014/main" id="{C94E4269-5ED3-4F02-8A60-566A1DEA7765}"/>
              </a:ext>
            </a:extLst>
          </p:cNvPr>
          <p:cNvSpPr>
            <a:spLocks xmlns:a="http://schemas.openxmlformats.org/drawingml/2006/main" noGrp="1"/>
          </p:cNvSpPr>
          <p:nvPr/>
        </p:nvSpPr>
        <p:spPr>
          <a:xfrm xmlns:a="http://schemas.openxmlformats.org/drawingml/2006/main">
            <a:off x="628650" y="12573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EB6C7"/>
                </a:solidFill>
                <a:latin typeface="Arial"/>
                <a:ea typeface="Arial"/>
                <a:cs typeface="Arial"/>
              </a:defRPr>
            </a:pPr>
            <a:r>
              <a:rPr sz="1725" b="0">
                <a:solidFill>
                  <a:srgbClr val="9EB6C7"/>
                </a:solidFill>
                <a:latin typeface="Arial"/>
                <a:ea typeface="Arial"/>
                <a:cs typeface="Arial"/>
              </a:rPr>
              <a:t>80 synthetic cases, seed 1742838, checked against an independent dynamic-programming oracle.</a:t>
            </a:r>
          </a:p>
        </p:txBody>
      </p:sp>
      <p:sp>
        <p:nvSpPr>
          <p:cNvPr id="3" name="">
            <a:extLst xmlns:a="http://schemas.openxmlformats.org/drawingml/2006/main">
              <a:ext uri="{FF2B5EF4-FFF2-40B4-BE49-F238E27FC236}">
                <a16:creationId xmlns:a16="http://schemas.microsoft.com/office/drawing/2014/main" id="{E0D9BA62-9479-4EB0-8FF7-EC460CE88706}"/>
              </a:ext>
            </a:extLst>
          </p:cNvPr>
          <p:cNvSpPr>
            <a:spLocks xmlns:a="http://schemas.openxmlformats.org/drawingml/2006/main" noGrp="1"/>
          </p:cNvSpPr>
          <p:nvPr/>
        </p:nvSpPr>
        <p:spPr>
          <a:xfrm xmlns:a="http://schemas.openxmlformats.org/drawingml/2006/main">
            <a:off x="628650" y="63722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9EB6C7"/>
                </a:solidFill>
                <a:latin typeface="Arial"/>
                <a:ea typeface="Arial"/>
                <a:cs typeface="Arial"/>
              </a:defRPr>
            </a:pPr>
            <a:r>
              <a:rPr sz="1125" b="0">
                <a:solidFill>
                  <a:srgbClr val="9EB6C7"/>
                </a:solidFill>
                <a:latin typeface="Arial"/>
                <a:ea typeface="Arial"/>
                <a:cs typeface="Arial"/>
              </a:rPr>
              <a:t>TechTitan  /  RouteGuard                                         07</a:t>
            </a:r>
          </a:p>
        </p:txBody>
      </p:sp>
      <p:sp>
        <p:nvSpPr>
          <p:cNvPr id="4" name="">
            <a:extLst xmlns:a="http://schemas.openxmlformats.org/drawingml/2006/main">
              <a:ext uri="{FF2B5EF4-FFF2-40B4-BE49-F238E27FC236}">
                <a16:creationId xmlns:a16="http://schemas.microsoft.com/office/drawing/2014/main" id="{B5F8EFD2-1365-4AA1-ACA7-7CE272CA04B5}"/>
              </a:ext>
            </a:extLst>
          </p:cNvPr>
          <p:cNvSpPr>
            <a:spLocks xmlns:a="http://schemas.openxmlformats.org/drawingml/2006/main" noGrp="1"/>
          </p:cNvSpPr>
          <p:nvPr/>
        </p:nvSpPr>
        <p:spPr>
          <a:xfrm xmlns:a="http://schemas.openxmlformats.org/drawingml/2006/main">
            <a:off x="647700" y="214312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63E6BD"/>
                </a:solidFill>
                <a:latin typeface="Arial"/>
                <a:ea typeface="Arial"/>
                <a:cs typeface="Arial"/>
              </a:defRPr>
            </a:pPr>
            <a:r>
              <a:rPr sz="5700" b="1">
                <a:solidFill>
                  <a:srgbClr val="63E6BD"/>
                </a:solidFill>
                <a:latin typeface="Arial"/>
                <a:ea typeface="Arial"/>
                <a:cs typeface="Arial"/>
              </a:rPr>
              <a:t>80 / 80</a:t>
            </a:r>
          </a:p>
        </p:txBody>
      </p:sp>
      <p:sp>
        <p:nvSpPr>
          <p:cNvPr id="5" name="">
            <a:extLst xmlns:a="http://schemas.openxmlformats.org/drawingml/2006/main">
              <a:ext uri="{FF2B5EF4-FFF2-40B4-BE49-F238E27FC236}">
                <a16:creationId xmlns:a16="http://schemas.microsoft.com/office/drawing/2014/main" id="{A2986A82-3D9E-4911-86AF-A4E0130FC309}"/>
              </a:ext>
            </a:extLst>
          </p:cNvPr>
          <p:cNvSpPr>
            <a:spLocks xmlns:a="http://schemas.openxmlformats.org/drawingml/2006/main" noGrp="1"/>
          </p:cNvSpPr>
          <p:nvPr/>
        </p:nvSpPr>
        <p:spPr>
          <a:xfrm xmlns:a="http://schemas.openxmlformats.org/drawingml/2006/main">
            <a:off x="695325" y="3248025"/>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DF5FA"/>
                </a:solidFill>
                <a:latin typeface="Arial"/>
                <a:ea typeface="Arial"/>
                <a:cs typeface="Arial"/>
              </a:defRPr>
            </a:pPr>
            <a:r>
              <a:rPr sz="2100" b="0">
                <a:solidFill>
                  <a:srgbClr val="EDF5FA"/>
                </a:solidFill>
                <a:latin typeface="Arial"/>
                <a:ea typeface="Arial"/>
                <a:cs typeface="Arial"/>
              </a:rPr>
              <a:t>Exact feasibility and objective agreement</a:t>
            </a:r>
          </a:p>
        </p:txBody>
      </p:sp>
      <p:sp>
        <p:nvSpPr>
          <p:cNvPr id="6" name="">
            <a:extLst xmlns:a="http://schemas.openxmlformats.org/drawingml/2006/main">
              <a:ext uri="{FF2B5EF4-FFF2-40B4-BE49-F238E27FC236}">
                <a16:creationId xmlns:a16="http://schemas.microsoft.com/office/drawing/2014/main" id="{6E7C30D6-514D-4CF8-9CFC-EBD739C0E271}"/>
              </a:ext>
            </a:extLst>
          </p:cNvPr>
          <p:cNvSpPr>
            <a:spLocks xmlns:a="http://schemas.openxmlformats.org/drawingml/2006/main" noGrp="1"/>
          </p:cNvSpPr>
          <p:nvPr/>
        </p:nvSpPr>
        <p:spPr>
          <a:xfrm xmlns:a="http://schemas.openxmlformats.org/drawingml/2006/main">
            <a:off x="6591300" y="2200275"/>
            <a:ext cx="4953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DF5FA"/>
                </a:solidFill>
                <a:latin typeface="Arial"/>
                <a:ea typeface="Arial"/>
                <a:cs typeface="Arial"/>
              </a:defRPr>
            </a:pPr>
            <a:r>
              <a:rPr sz="2250" b="0">
                <a:solidFill>
                  <a:srgbClr val="EDF5FA"/>
                </a:solidFill>
                <a:latin typeface="Arial"/>
                <a:ea typeface="Arial"/>
                <a:cs typeface="Arial"/>
              </a:rPr>
              <a:t>31 / 31 feasible cases verified</a:t>
            </a:r>
          </a:p>
          <a:p xmlns:a="http://schemas.openxmlformats.org/drawingml/2006/main">
            <a:pPr>
              <a:defRPr sz="2250" b="0">
                <a:solidFill>
                  <a:srgbClr val="EDF5FA"/>
                </a:solidFill>
                <a:latin typeface="Arial"/>
                <a:ea typeface="Arial"/>
                <a:cs typeface="Arial"/>
              </a:defRPr>
            </a:pPr>
            <a:r>
              <a:rPr sz="2250" b="0">
                <a:solidFill>
                  <a:srgbClr val="EDF5FA"/>
                </a:solidFill>
                <a:latin typeface="Arial"/>
                <a:ea typeface="Arial"/>
                <a:cs typeface="Arial"/>
              </a:rPr>
              <a:t>49 / 49 infeasible cases identified</a:t>
            </a:r>
          </a:p>
          <a:p xmlns:a="http://schemas.openxmlformats.org/drawingml/2006/main">
            <a:pPr>
              <a:defRPr sz="2250" b="0">
                <a:solidFill>
                  <a:srgbClr val="EDF5FA"/>
                </a:solidFill>
                <a:latin typeface="Arial"/>
                <a:ea typeface="Arial"/>
                <a:cs typeface="Arial"/>
              </a:defRPr>
            </a:pPr>
            <a:r>
              <a:rPr sz="2250" b="0">
                <a:solidFill>
                  <a:srgbClr val="EDF5FA"/>
                </a:solidFill>
                <a:latin typeface="Arial"/>
                <a:ea typeface="Arial"/>
                <a:cs typeface="Arial"/>
              </a:rPr>
              <a:t>17 automated tests passing</a:t>
            </a:r>
          </a:p>
        </p:txBody>
      </p:sp>
      <p:sp>
        <p:nvSpPr>
          <p:cNvPr id="7" name="">
            <a:extLst xmlns:a="http://schemas.openxmlformats.org/drawingml/2006/main">
              <a:ext uri="{FF2B5EF4-FFF2-40B4-BE49-F238E27FC236}">
                <a16:creationId xmlns:a16="http://schemas.microsoft.com/office/drawing/2014/main" id="{79453864-36DE-40AB-B419-6481840F21C2}"/>
              </a:ext>
            </a:extLst>
          </p:cNvPr>
          <p:cNvSpPr>
            <a:spLocks xmlns:a="http://schemas.openxmlformats.org/drawingml/2006/main" noGrp="1"/>
          </p:cNvSpPr>
          <p:nvPr/>
        </p:nvSpPr>
        <p:spPr>
          <a:xfrm xmlns:a="http://schemas.openxmlformats.org/drawingml/2006/main">
            <a:off x="704850" y="49053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EDF5FA"/>
                </a:solidFill>
                <a:latin typeface="Arial"/>
                <a:ea typeface="Arial"/>
                <a:cs typeface="Arial"/>
              </a:defRPr>
            </a:pPr>
            <a:r>
              <a:rPr sz="2100" b="0">
                <a:solidFill>
                  <a:srgbClr val="EDF5FA"/>
                </a:solidFill>
                <a:latin typeface="Arial"/>
                <a:ea typeface="Arial"/>
                <a:cs typeface="Arial"/>
              </a:rPr>
              <a:t>Cheapest-first baseline: feasible in 28 cases; constrained search: feasible in 31.</a:t>
            </a:r>
          </a:p>
        </p:txBody>
      </p:sp>
      <p:sp>
        <p:nvSpPr>
          <p:cNvPr id="8" name="">
            <a:extLst xmlns:a="http://schemas.openxmlformats.org/drawingml/2006/main">
              <a:ext uri="{FF2B5EF4-FFF2-40B4-BE49-F238E27FC236}">
                <a16:creationId xmlns:a16="http://schemas.microsoft.com/office/drawing/2014/main" id="{F11E4B64-37AE-435E-9364-AB15B65E72E2}"/>
              </a:ext>
            </a:extLst>
          </p:cNvPr>
          <p:cNvSpPr>
            <a:spLocks xmlns:a="http://schemas.openxmlformats.org/drawingml/2006/main" noGrp="1"/>
          </p:cNvSpPr>
          <p:nvPr/>
        </p:nvSpPr>
        <p:spPr>
          <a:xfrm xmlns:a="http://schemas.openxmlformats.org/drawingml/2006/main">
            <a:off x="704850" y="56673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EB6C7"/>
                </a:solidFill>
                <a:latin typeface="Arial"/>
                <a:ea typeface="Arial"/>
                <a:cs typeface="Arial"/>
              </a:defRPr>
            </a:pPr>
            <a:r>
              <a:rPr sz="1725" b="0">
                <a:solidFill>
                  <a:srgbClr val="9EB6C7"/>
                </a:solidFill>
                <a:latin typeface="Arial"/>
                <a:ea typeface="Arial"/>
                <a:cs typeface="Arial"/>
              </a:rPr>
              <a:t>Limited five-offer sandbox benchmark. No production or generalization claim.</a:t>
            </a:r>
          </a:p>
        </p:txBody>
      </p:sp>
    </p:spTree>
    <p:extLst>
      <p:ext uri="{BB962C8B-B14F-4D97-AF65-F5344CB8AC3E}">
        <p14:creationId xmlns:p14="http://schemas.microsoft.com/office/powerpoint/2010/main" val="242676379"/>
      </p:ext>
    </p:extLst>
  </p:cSld>
</p:sld>
</file>

<file path=ppt/slides/slide8.xml><?xml version="1.0" encoding="utf-8"?>
<p:sld xmlns:p="http://schemas.openxmlformats.org/presentationml/2006/main">
  <p:cSld>
    <p:bg>
      <p:bgPr>
        <a:solidFill xmlns:a="http://schemas.openxmlformats.org/drawingml/2006/main">
          <a:srgbClr val="0A111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428859-D15E-4F4C-B1D8-F30CB7C41FE3}"/>
              </a:ext>
            </a:extLst>
          </p:cNvPr>
          <p:cNvSpPr>
            <a:spLocks xmlns:a="http://schemas.openxmlformats.org/drawingml/2006/main" noGrp="1"/>
          </p:cNvSpPr>
          <p:nvPr/>
        </p:nvSpPr>
        <p:spPr>
          <a:xfrm xmlns:a="http://schemas.openxmlformats.org/drawingml/2006/main">
            <a:off x="609600" y="4572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DF5FA"/>
                </a:solidFill>
                <a:latin typeface="Arial"/>
                <a:ea typeface="Arial"/>
                <a:cs typeface="Arial"/>
              </a:defRPr>
            </a:pPr>
            <a:r>
              <a:rPr sz="3300" b="1">
                <a:solidFill>
                  <a:srgbClr val="EDF5FA"/>
                </a:solidFill>
                <a:latin typeface="Arial"/>
                <a:ea typeface="Arial"/>
                <a:cs typeface="Arial"/>
              </a:rPr>
              <a:t>Working prototype</a:t>
            </a:r>
          </a:p>
        </p:txBody>
      </p:sp>
      <p:sp>
        <p:nvSpPr>
          <p:cNvPr id="2" name="">
            <a:extLst xmlns:a="http://schemas.openxmlformats.org/drawingml/2006/main">
              <a:ext uri="{FF2B5EF4-FFF2-40B4-BE49-F238E27FC236}">
                <a16:creationId xmlns:a16="http://schemas.microsoft.com/office/drawing/2014/main" id="{A1094ADC-14AE-4EC5-9DD0-FE541CA21EDE}"/>
              </a:ext>
            </a:extLst>
          </p:cNvPr>
          <p:cNvSpPr>
            <a:spLocks xmlns:a="http://schemas.openxmlformats.org/drawingml/2006/main" noGrp="1"/>
          </p:cNvSpPr>
          <p:nvPr/>
        </p:nvSpPr>
        <p:spPr>
          <a:xfrm xmlns:a="http://schemas.openxmlformats.org/drawingml/2006/main">
            <a:off x="628650" y="12573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EB6C7"/>
                </a:solidFill>
                <a:latin typeface="Arial"/>
                <a:ea typeface="Arial"/>
                <a:cs typeface="Arial"/>
              </a:defRPr>
            </a:pPr>
            <a:r>
              <a:rPr sz="1725" b="0">
                <a:solidFill>
                  <a:srgbClr val="9EB6C7"/>
                </a:solidFill>
                <a:latin typeface="Arial"/>
                <a:ea typeface="Arial"/>
                <a:cs typeface="Arial"/>
              </a:rPr>
              <a:t>Inspect tool evidence, change constraints, inject an outage and export the full run.</a:t>
            </a:r>
          </a:p>
        </p:txBody>
      </p:sp>
      <p:sp>
        <p:nvSpPr>
          <p:cNvPr id="3" name="">
            <a:extLst xmlns:a="http://schemas.openxmlformats.org/drawingml/2006/main">
              <a:ext uri="{FF2B5EF4-FFF2-40B4-BE49-F238E27FC236}">
                <a16:creationId xmlns:a16="http://schemas.microsoft.com/office/drawing/2014/main" id="{6936F8B5-3213-47FB-8730-7D11A8EE9143}"/>
              </a:ext>
            </a:extLst>
          </p:cNvPr>
          <p:cNvSpPr>
            <a:spLocks xmlns:a="http://schemas.openxmlformats.org/drawingml/2006/main" noGrp="1"/>
          </p:cNvSpPr>
          <p:nvPr/>
        </p:nvSpPr>
        <p:spPr>
          <a:xfrm xmlns:a="http://schemas.openxmlformats.org/drawingml/2006/main">
            <a:off x="628650" y="63722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9EB6C7"/>
                </a:solidFill>
                <a:latin typeface="Arial"/>
                <a:ea typeface="Arial"/>
                <a:cs typeface="Arial"/>
              </a:defRPr>
            </a:pPr>
            <a:r>
              <a:rPr sz="1125" b="0">
                <a:solidFill>
                  <a:srgbClr val="9EB6C7"/>
                </a:solidFill>
                <a:latin typeface="Arial"/>
                <a:ea typeface="Arial"/>
                <a:cs typeface="Arial"/>
              </a:rPr>
              <a:t>TechTitan  /  RouteGuard                                         08</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0a254c00ffe47a5"/>
          <a:stretch xmlns:a="http://schemas.openxmlformats.org/drawingml/2006/main"/>
        </p:blipFill>
        <p:spPr>
          <a:xfrm xmlns:a="http://schemas.openxmlformats.org/drawingml/2006/main">
            <a:off x="1539363" y="1990725"/>
            <a:ext cx="4198374" cy="40671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2F54B1C-FBF8-4A6D-A6B7-C4184B487FFD}"/>
              </a:ext>
            </a:extLst>
          </p:cNvPr>
          <p:cNvSpPr>
            <a:spLocks xmlns:a="http://schemas.openxmlformats.org/drawingml/2006/main" noGrp="1"/>
          </p:cNvSpPr>
          <p:nvPr/>
        </p:nvSpPr>
        <p:spPr>
          <a:xfrm xmlns:a="http://schemas.openxmlformats.org/drawingml/2006/main">
            <a:off x="7162800" y="2447925"/>
            <a:ext cx="43624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3E6BD"/>
                </a:solidFill>
                <a:latin typeface="Arial"/>
                <a:ea typeface="Arial"/>
                <a:cs typeface="Arial"/>
              </a:defRPr>
            </a:pPr>
            <a:r>
              <a:rPr sz="2325" b="1">
                <a:solidFill>
                  <a:srgbClr val="63E6BD"/>
                </a:solidFill>
                <a:latin typeface="Arial"/>
                <a:ea typeface="Arial"/>
                <a:cs typeface="Arial"/>
              </a:rPr>
              <a:t>python server.py</a:t>
            </a:r>
          </a:p>
        </p:txBody>
      </p:sp>
      <p:sp>
        <p:nvSpPr>
          <p:cNvPr id="6" name="">
            <a:extLst xmlns:a="http://schemas.openxmlformats.org/drawingml/2006/main">
              <a:ext uri="{FF2B5EF4-FFF2-40B4-BE49-F238E27FC236}">
                <a16:creationId xmlns:a16="http://schemas.microsoft.com/office/drawing/2014/main" id="{8050D6B2-2DBA-421C-A58A-6E517DCACAB1}"/>
              </a:ext>
            </a:extLst>
          </p:cNvPr>
          <p:cNvSpPr>
            <a:spLocks xmlns:a="http://schemas.openxmlformats.org/drawingml/2006/main" noGrp="1"/>
          </p:cNvSpPr>
          <p:nvPr/>
        </p:nvSpPr>
        <p:spPr>
          <a:xfrm xmlns:a="http://schemas.openxmlformats.org/drawingml/2006/main">
            <a:off x="7162800" y="3238500"/>
            <a:ext cx="43338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F5FA"/>
                </a:solidFill>
                <a:latin typeface="Arial"/>
                <a:ea typeface="Arial"/>
                <a:cs typeface="Arial"/>
              </a:defRPr>
            </a:pPr>
            <a:r>
              <a:rPr sz="2175" b="0">
                <a:solidFill>
                  <a:srgbClr val="EDF5FA"/>
                </a:solidFill>
                <a:latin typeface="Arial"/>
                <a:ea typeface="Arial"/>
                <a:cs typeface="Arial"/>
              </a:rPr>
              <a:t>Open localhost:8765</a:t>
            </a:r>
          </a:p>
          <a:p xmlns:a="http://schemas.openxmlformats.org/drawingml/2006/main">
            <a:pPr>
              <a:defRPr sz="2175" b="0">
                <a:solidFill>
                  <a:srgbClr val="EDF5FA"/>
                </a:solidFill>
                <a:latin typeface="Arial"/>
                <a:ea typeface="Arial"/>
                <a:cs typeface="Arial"/>
              </a:defRPr>
            </a:pPr>
            <a:r>
              <a:rPr sz="2175" b="0">
                <a:solidFill>
                  <a:srgbClr val="EDF5FA"/>
                </a:solidFill>
                <a:latin typeface="Arial"/>
                <a:ea typeface="Arial"/>
                <a:cs typeface="Arial"/>
              </a:rPr>
              <a:t>Select Two disruptions</a:t>
            </a:r>
          </a:p>
          <a:p xmlns:a="http://schemas.openxmlformats.org/drawingml/2006/main">
            <a:pPr>
              <a:defRPr sz="2175" b="0">
                <a:solidFill>
                  <a:srgbClr val="EDF5FA"/>
                </a:solidFill>
                <a:latin typeface="Arial"/>
                <a:ea typeface="Arial"/>
                <a:cs typeface="Arial"/>
              </a:defRPr>
            </a:pPr>
            <a:r>
              <a:rPr sz="2175" b="0">
                <a:solidFill>
                  <a:srgbClr val="EDF5FA"/>
                </a:solidFill>
                <a:latin typeface="Arial"/>
                <a:ea typeface="Arial"/>
                <a:cs typeface="Arial"/>
              </a:rPr>
              <a:t>Run the agent</a:t>
            </a:r>
          </a:p>
          <a:p xmlns:a="http://schemas.openxmlformats.org/drawingml/2006/main">
            <a:pPr>
              <a:defRPr sz="2175" b="0">
                <a:solidFill>
                  <a:srgbClr val="EDF5FA"/>
                </a:solidFill>
                <a:latin typeface="Arial"/>
                <a:ea typeface="Arial"/>
                <a:cs typeface="Arial"/>
              </a:defRPr>
            </a:pPr>
            <a:r>
              <a:rPr sz="2175" b="0">
                <a:solidFill>
                  <a:srgbClr val="EDF5FA"/>
                </a:solidFill>
                <a:latin typeface="Arial"/>
                <a:ea typeface="Arial"/>
                <a:cs typeface="Arial"/>
              </a:rPr>
              <a:t>Inspect verification</a:t>
            </a:r>
          </a:p>
        </p:txBody>
      </p:sp>
      <p:sp>
        <p:nvSpPr>
          <p:cNvPr id="7" name="">
            <a:extLst xmlns:a="http://schemas.openxmlformats.org/drawingml/2006/main">
              <a:ext uri="{FF2B5EF4-FFF2-40B4-BE49-F238E27FC236}">
                <a16:creationId xmlns:a16="http://schemas.microsoft.com/office/drawing/2014/main" id="{4AE74A63-120D-4217-ADAF-4FE7B0FDB4B4}"/>
              </a:ext>
            </a:extLst>
          </p:cNvPr>
          <p:cNvSpPr>
            <a:spLocks xmlns:a="http://schemas.openxmlformats.org/drawingml/2006/main" noGrp="1"/>
          </p:cNvSpPr>
          <p:nvPr/>
        </p:nvSpPr>
        <p:spPr>
          <a:xfrm xmlns:a="http://schemas.openxmlformats.org/drawingml/2006/main">
            <a:off x="7162800" y="5438775"/>
            <a:ext cx="419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EB6C7"/>
                </a:solidFill>
                <a:latin typeface="Arial"/>
                <a:ea typeface="Arial"/>
                <a:cs typeface="Arial"/>
              </a:defRPr>
            </a:pPr>
            <a:r>
              <a:rPr sz="1725" b="0">
                <a:solidFill>
                  <a:srgbClr val="9EB6C7"/>
                </a:solidFill>
                <a:latin typeface="Arial"/>
                <a:ea typeface="Arial"/>
                <a:cs typeface="Arial"/>
              </a:rPr>
              <a:t>Standard-library Python + browser</a:t>
            </a:r>
          </a:p>
        </p:txBody>
      </p:sp>
    </p:spTree>
    <p:extLst>
      <p:ext uri="{BB962C8B-B14F-4D97-AF65-F5344CB8AC3E}">
        <p14:creationId xmlns:p14="http://schemas.microsoft.com/office/powerpoint/2010/main" val="462327647"/>
      </p:ext>
    </p:extLst>
  </p:cSld>
</p:sld>
</file>

<file path=ppt/slides/slide9.xml><?xml version="1.0" encoding="utf-8"?>
<p:sld xmlns:p="http://schemas.openxmlformats.org/presentationml/2006/main">
  <p:cSld>
    <p:bg>
      <p:bgPr>
        <a:solidFill xmlns:a="http://schemas.openxmlformats.org/drawingml/2006/main">
          <a:srgbClr val="0A111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B936D3A-9087-428E-A788-5A6CA76DD586}"/>
              </a:ext>
            </a:extLst>
          </p:cNvPr>
          <p:cNvSpPr>
            <a:spLocks xmlns:a="http://schemas.openxmlformats.org/drawingml/2006/main" noGrp="1"/>
          </p:cNvSpPr>
          <p:nvPr/>
        </p:nvSpPr>
        <p:spPr>
          <a:xfrm xmlns:a="http://schemas.openxmlformats.org/drawingml/2006/main">
            <a:off x="609600" y="4572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DF5FA"/>
                </a:solidFill>
                <a:latin typeface="Arial"/>
                <a:ea typeface="Arial"/>
                <a:cs typeface="Arial"/>
              </a:defRPr>
            </a:pPr>
            <a:r>
              <a:rPr sz="3300" b="1">
                <a:solidFill>
                  <a:srgbClr val="EDF5FA"/>
                </a:solidFill>
                <a:latin typeface="Arial"/>
                <a:ea typeface="Arial"/>
                <a:cs typeface="Arial"/>
              </a:rPr>
              <a:t>Challenges and limits</a:t>
            </a:r>
          </a:p>
        </p:txBody>
      </p:sp>
      <p:sp>
        <p:nvSpPr>
          <p:cNvPr id="2" name="">
            <a:extLst xmlns:a="http://schemas.openxmlformats.org/drawingml/2006/main">
              <a:ext uri="{FF2B5EF4-FFF2-40B4-BE49-F238E27FC236}">
                <a16:creationId xmlns:a16="http://schemas.microsoft.com/office/drawing/2014/main" id="{644E187B-09C5-413D-B978-BA30F158C3B5}"/>
              </a:ext>
            </a:extLst>
          </p:cNvPr>
          <p:cNvSpPr>
            <a:spLocks xmlns:a="http://schemas.openxmlformats.org/drawingml/2006/main" noGrp="1"/>
          </p:cNvSpPr>
          <p:nvPr/>
        </p:nvSpPr>
        <p:spPr>
          <a:xfrm xmlns:a="http://schemas.openxmlformats.org/drawingml/2006/main">
            <a:off x="628650" y="12573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EB6C7"/>
                </a:solidFill>
                <a:latin typeface="Arial"/>
                <a:ea typeface="Arial"/>
                <a:cs typeface="Arial"/>
              </a:defRPr>
            </a:pPr>
            <a:r>
              <a:rPr sz="1725" b="0">
                <a:solidFill>
                  <a:srgbClr val="9EB6C7"/>
                </a:solidFill>
                <a:latin typeface="Arial"/>
                <a:ea typeface="Arial"/>
                <a:cs typeface="Arial"/>
              </a:rPr>
              <a:t>The prototype is designed to make recovery behavior inspectable and testable.</a:t>
            </a:r>
          </a:p>
        </p:txBody>
      </p:sp>
      <p:sp>
        <p:nvSpPr>
          <p:cNvPr id="3" name="">
            <a:extLst xmlns:a="http://schemas.openxmlformats.org/drawingml/2006/main">
              <a:ext uri="{FF2B5EF4-FFF2-40B4-BE49-F238E27FC236}">
                <a16:creationId xmlns:a16="http://schemas.microsoft.com/office/drawing/2014/main" id="{7ADC511D-D6EA-4ED1-B3C8-7026D74604CB}"/>
              </a:ext>
            </a:extLst>
          </p:cNvPr>
          <p:cNvSpPr>
            <a:spLocks xmlns:a="http://schemas.openxmlformats.org/drawingml/2006/main" noGrp="1"/>
          </p:cNvSpPr>
          <p:nvPr/>
        </p:nvSpPr>
        <p:spPr>
          <a:xfrm xmlns:a="http://schemas.openxmlformats.org/drawingml/2006/main">
            <a:off x="628650" y="63722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9EB6C7"/>
                </a:solidFill>
                <a:latin typeface="Arial"/>
                <a:ea typeface="Arial"/>
                <a:cs typeface="Arial"/>
              </a:defRPr>
            </a:pPr>
            <a:r>
              <a:rPr sz="1125" b="0">
                <a:solidFill>
                  <a:srgbClr val="9EB6C7"/>
                </a:solidFill>
                <a:latin typeface="Arial"/>
                <a:ea typeface="Arial"/>
                <a:cs typeface="Arial"/>
              </a:rPr>
              <a:t>TechTitan  /  RouteGuard                                         09</a:t>
            </a:r>
          </a:p>
        </p:txBody>
      </p:sp>
      <p:sp>
        <p:nvSpPr>
          <p:cNvPr id="4" name="">
            <a:extLst xmlns:a="http://schemas.openxmlformats.org/drawingml/2006/main">
              <a:ext uri="{FF2B5EF4-FFF2-40B4-BE49-F238E27FC236}">
                <a16:creationId xmlns:a16="http://schemas.microsoft.com/office/drawing/2014/main" id="{62C8EDC4-5311-47D6-ACBF-99189B3AC4E8}"/>
              </a:ext>
            </a:extLst>
          </p:cNvPr>
          <p:cNvSpPr>
            <a:spLocks xmlns:a="http://schemas.openxmlformats.org/drawingml/2006/main" noGrp="1"/>
          </p:cNvSpPr>
          <p:nvPr/>
        </p:nvSpPr>
        <p:spPr>
          <a:xfrm xmlns:a="http://schemas.openxmlformats.org/drawingml/2006/main">
            <a:off x="685800" y="211455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63E6BD"/>
                </a:solidFill>
                <a:latin typeface="Arial"/>
                <a:ea typeface="Arial"/>
                <a:cs typeface="Arial"/>
              </a:defRPr>
            </a:pPr>
            <a:r>
              <a:rPr sz="2475" b="1">
                <a:solidFill>
                  <a:srgbClr val="63E6BD"/>
                </a:solidFill>
                <a:latin typeface="Arial"/>
                <a:ea typeface="Arial"/>
                <a:cs typeface="Arial"/>
              </a:rPr>
              <a:t>Consistent state after failure</a:t>
            </a:r>
          </a:p>
        </p:txBody>
      </p:sp>
      <p:sp>
        <p:nvSpPr>
          <p:cNvPr id="5" name="">
            <a:extLst xmlns:a="http://schemas.openxmlformats.org/drawingml/2006/main">
              <a:ext uri="{FF2B5EF4-FFF2-40B4-BE49-F238E27FC236}">
                <a16:creationId xmlns:a16="http://schemas.microsoft.com/office/drawing/2014/main" id="{B7BCA758-FE62-484F-8021-B587EB29E026}"/>
              </a:ext>
            </a:extLst>
          </p:cNvPr>
          <p:cNvSpPr>
            <a:spLocks xmlns:a="http://schemas.openxmlformats.org/drawingml/2006/main" noGrp="1"/>
          </p:cNvSpPr>
          <p:nvPr/>
        </p:nvSpPr>
        <p:spPr>
          <a:xfrm xmlns:a="http://schemas.openxmlformats.org/drawingml/2006/main">
            <a:off x="685800" y="2762250"/>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DF5FA"/>
                </a:solidFill>
                <a:latin typeface="Arial"/>
                <a:ea typeface="Arial"/>
                <a:cs typeface="Arial"/>
              </a:defRPr>
            </a:pPr>
            <a:r>
              <a:rPr sz="2175" b="0">
                <a:solidFill>
                  <a:srgbClr val="EDF5FA"/>
                </a:solidFill>
                <a:latin typeface="Arial"/>
                <a:ea typeface="Arial"/>
                <a:cs typeface="Arial"/>
              </a:rPr>
              <a:t>Keep unaffected orders; cancel and refund affected ones; prevent duplicate charges.</a:t>
            </a:r>
          </a:p>
        </p:txBody>
      </p:sp>
      <p:sp>
        <p:nvSpPr>
          <p:cNvPr id="6" name="">
            <a:extLst xmlns:a="http://schemas.openxmlformats.org/drawingml/2006/main">
              <a:ext uri="{FF2B5EF4-FFF2-40B4-BE49-F238E27FC236}">
                <a16:creationId xmlns:a16="http://schemas.microsoft.com/office/drawing/2014/main" id="{9881561C-F958-42BF-B8F5-BB73F59ADED3}"/>
              </a:ext>
            </a:extLst>
          </p:cNvPr>
          <p:cNvSpPr>
            <a:spLocks xmlns:a="http://schemas.openxmlformats.org/drawingml/2006/main" noGrp="1"/>
          </p:cNvSpPr>
          <p:nvPr/>
        </p:nvSpPr>
        <p:spPr>
          <a:xfrm xmlns:a="http://schemas.openxmlformats.org/drawingml/2006/main">
            <a:off x="685800" y="3924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63E6BD"/>
                </a:solidFill>
                <a:latin typeface="Arial"/>
                <a:ea typeface="Arial"/>
                <a:cs typeface="Arial"/>
              </a:defRPr>
            </a:pPr>
            <a:r>
              <a:rPr sz="2475" b="1">
                <a:solidFill>
                  <a:srgbClr val="63E6BD"/>
                </a:solidFill>
                <a:latin typeface="Arial"/>
                <a:ea typeface="Arial"/>
                <a:cs typeface="Arial"/>
              </a:rPr>
              <a:t>Explicit simulator assumptions</a:t>
            </a:r>
          </a:p>
        </p:txBody>
      </p:sp>
      <p:sp>
        <p:nvSpPr>
          <p:cNvPr id="7" name="">
            <a:extLst xmlns:a="http://schemas.openxmlformats.org/drawingml/2006/main">
              <a:ext uri="{FF2B5EF4-FFF2-40B4-BE49-F238E27FC236}">
                <a16:creationId xmlns:a16="http://schemas.microsoft.com/office/drawing/2014/main" id="{5A2EA8DF-E52A-49D3-8A9E-DD6E9F200604}"/>
              </a:ext>
            </a:extLst>
          </p:cNvPr>
          <p:cNvSpPr>
            <a:spLocks xmlns:a="http://schemas.openxmlformats.org/drawingml/2006/main" noGrp="1"/>
          </p:cNvSpPr>
          <p:nvPr/>
        </p:nvSpPr>
        <p:spPr>
          <a:xfrm xmlns:a="http://schemas.openxmlformats.org/drawingml/2006/main">
            <a:off x="685800" y="4581525"/>
            <a:ext cx="10572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9EB6C7"/>
                </a:solidFill>
                <a:latin typeface="Arial"/>
                <a:ea typeface="Arial"/>
                <a:cs typeface="Arial"/>
              </a:defRPr>
            </a:pPr>
            <a:r>
              <a:rPr sz="2175" b="0">
                <a:solidFill>
                  <a:srgbClr val="9EB6C7"/>
                </a:solidFill>
                <a:latin typeface="Arial"/>
                <a:ea typeface="Arial"/>
                <a:cs typeface="Arial"/>
              </a:rPr>
              <a:t>One SKU, five offers, ten-unit lots, snapshot ETAs and fully refundable pre-dispatch cancellations. No live ERP, physical delivery or measured emissions.</a:t>
            </a:r>
          </a:p>
        </p:txBody>
      </p:sp>
    </p:spTree>
    <p:extLst>
      <p:ext uri="{BB962C8B-B14F-4D97-AF65-F5344CB8AC3E}">
        <p14:creationId xmlns:p14="http://schemas.microsoft.com/office/powerpoint/2010/main" val="746081650"/>
      </p:ext>
    </p:extLst>
  </p:cSld>
</p:sld>
</file>

<file path=ppt/slides/slide10.xml><?xml version="1.0" encoding="utf-8"?>
<p:sld xmlns:p="http://schemas.openxmlformats.org/presentationml/2006/main">
  <p:cSld>
    <p:bg>
      <p:bgPr>
        <a:solidFill xmlns:a="http://schemas.openxmlformats.org/drawingml/2006/main">
          <a:srgbClr val="0A111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7352960-7E78-4327-90F3-F198B0A92F7C}"/>
              </a:ext>
            </a:extLst>
          </p:cNvPr>
          <p:cNvSpPr>
            <a:spLocks xmlns:a="http://schemas.openxmlformats.org/drawingml/2006/main" noGrp="1"/>
          </p:cNvSpPr>
          <p:nvPr/>
        </p:nvSpPr>
        <p:spPr>
          <a:xfrm xmlns:a="http://schemas.openxmlformats.org/drawingml/2006/main">
            <a:off x="609600" y="4572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EDF5FA"/>
                </a:solidFill>
                <a:latin typeface="Arial"/>
                <a:ea typeface="Arial"/>
                <a:cs typeface="Arial"/>
              </a:defRPr>
            </a:pPr>
            <a:r>
              <a:rPr sz="3300" b="1">
                <a:solidFill>
                  <a:srgbClr val="EDF5FA"/>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4979F4BD-067D-43A1-A726-2B76F14C57B8}"/>
              </a:ext>
            </a:extLst>
          </p:cNvPr>
          <p:cNvSpPr>
            <a:spLocks xmlns:a="http://schemas.openxmlformats.org/drawingml/2006/main" noGrp="1"/>
          </p:cNvSpPr>
          <p:nvPr/>
        </p:nvSpPr>
        <p:spPr>
          <a:xfrm xmlns:a="http://schemas.openxmlformats.org/drawingml/2006/main">
            <a:off x="628650" y="12573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9EB6C7"/>
                </a:solidFill>
                <a:latin typeface="Arial"/>
                <a:ea typeface="Arial"/>
                <a:cs typeface="Arial"/>
              </a:defRPr>
            </a:pPr>
            <a:r>
              <a:rPr sz="1725" b="0">
                <a:solidFill>
                  <a:srgbClr val="9EB6C7"/>
                </a:solidFill>
                <a:latin typeface="Arial"/>
                <a:ea typeface="Arial"/>
                <a:cs typeface="Arial"/>
              </a:rPr>
              <a:t>A recovery action is complete only when the resulting state satisfies the goal.</a:t>
            </a:r>
          </a:p>
        </p:txBody>
      </p:sp>
      <p:sp>
        <p:nvSpPr>
          <p:cNvPr id="3" name="">
            <a:extLst xmlns:a="http://schemas.openxmlformats.org/drawingml/2006/main">
              <a:ext uri="{FF2B5EF4-FFF2-40B4-BE49-F238E27FC236}">
                <a16:creationId xmlns:a16="http://schemas.microsoft.com/office/drawing/2014/main" id="{91A36255-DBFB-4819-B793-AD97EB61EB88}"/>
              </a:ext>
            </a:extLst>
          </p:cNvPr>
          <p:cNvSpPr>
            <a:spLocks xmlns:a="http://schemas.openxmlformats.org/drawingml/2006/main" noGrp="1"/>
          </p:cNvSpPr>
          <p:nvPr/>
        </p:nvSpPr>
        <p:spPr>
          <a:xfrm xmlns:a="http://schemas.openxmlformats.org/drawingml/2006/main">
            <a:off x="628650" y="6372225"/>
            <a:ext cx="10858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9EB6C7"/>
                </a:solidFill>
                <a:latin typeface="Arial"/>
                <a:ea typeface="Arial"/>
                <a:cs typeface="Arial"/>
              </a:defRPr>
            </a:pPr>
            <a:r>
              <a:rPr sz="1125" b="0">
                <a:solidFill>
                  <a:srgbClr val="9EB6C7"/>
                </a:solidFill>
                <a:latin typeface="Arial"/>
                <a:ea typeface="Arial"/>
                <a:cs typeface="Arial"/>
              </a:rPr>
              <a:t>TechTitan  /  RouteGuard                                         10</a:t>
            </a:r>
          </a:p>
        </p:txBody>
      </p:sp>
      <p:sp>
        <p:nvSpPr>
          <p:cNvPr id="4" name="">
            <a:extLst xmlns:a="http://schemas.openxmlformats.org/drawingml/2006/main">
              <a:ext uri="{FF2B5EF4-FFF2-40B4-BE49-F238E27FC236}">
                <a16:creationId xmlns:a16="http://schemas.microsoft.com/office/drawing/2014/main" id="{0400B3AB-87D0-4987-83BE-F850396AA81A}"/>
              </a:ext>
            </a:extLst>
          </p:cNvPr>
          <p:cNvSpPr>
            <a:spLocks xmlns:a="http://schemas.openxmlformats.org/drawingml/2006/main" noGrp="1"/>
          </p:cNvSpPr>
          <p:nvPr/>
        </p:nvSpPr>
        <p:spPr>
          <a:xfrm xmlns:a="http://schemas.openxmlformats.org/drawingml/2006/main">
            <a:off x="638175" y="2305050"/>
            <a:ext cx="1085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63E6BD"/>
                </a:solidFill>
                <a:latin typeface="Arial"/>
                <a:ea typeface="Arial"/>
                <a:cs typeface="Arial"/>
              </a:defRPr>
            </a:pPr>
            <a:r>
              <a:rPr sz="4275" b="1">
                <a:solidFill>
                  <a:srgbClr val="63E6BD"/>
                </a:solidFill>
                <a:latin typeface="Arial"/>
                <a:ea typeface="Arial"/>
                <a:cs typeface="Arial"/>
              </a:rPr>
              <a:t>Act. Observe the consequence.</a:t>
            </a:r>
          </a:p>
          <a:p xmlns:a="http://schemas.openxmlformats.org/drawingml/2006/main">
            <a:pPr>
              <a:defRPr sz="4275" b="1">
                <a:solidFill>
                  <a:srgbClr val="63E6BD"/>
                </a:solidFill>
                <a:latin typeface="Arial"/>
                <a:ea typeface="Arial"/>
                <a:cs typeface="Arial"/>
              </a:defRPr>
            </a:pPr>
            <a:r>
              <a:rPr sz="4275" b="1">
                <a:solidFill>
                  <a:srgbClr val="63E6BD"/>
                </a:solidFill>
                <a:latin typeface="Arial"/>
                <a:ea typeface="Arial"/>
                <a:cs typeface="Arial"/>
              </a:rPr>
              <a:t>Replan. Verify.</a:t>
            </a:r>
          </a:p>
        </p:txBody>
      </p:sp>
      <p:sp>
        <p:nvSpPr>
          <p:cNvPr id="5" name="">
            <a:extLst xmlns:a="http://schemas.openxmlformats.org/drawingml/2006/main">
              <a:ext uri="{FF2B5EF4-FFF2-40B4-BE49-F238E27FC236}">
                <a16:creationId xmlns:a16="http://schemas.microsoft.com/office/drawing/2014/main" id="{E65B9DD0-EDEE-429E-958B-BDC49D71E531}"/>
              </a:ext>
            </a:extLst>
          </p:cNvPr>
          <p:cNvSpPr>
            <a:spLocks xmlns:a="http://schemas.openxmlformats.org/drawingml/2006/main" noGrp="1"/>
          </p:cNvSpPr>
          <p:nvPr/>
        </p:nvSpPr>
        <p:spPr>
          <a:xfrm xmlns:a="http://schemas.openxmlformats.org/drawingml/2006/main">
            <a:off x="685800" y="44862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EDF5FA"/>
                </a:solidFill>
                <a:latin typeface="Arial"/>
                <a:ea typeface="Arial"/>
                <a:cs typeface="Arial"/>
              </a:defRPr>
            </a:pPr>
            <a:r>
              <a:rPr sz="2250" b="0">
                <a:solidFill>
                  <a:srgbClr val="EDF5FA"/>
                </a:solidFill>
                <a:latin typeface="Arial"/>
                <a:ea typeface="Arial"/>
                <a:cs typeface="Arial"/>
              </a:rPr>
              <a:t>Delivered: runnable source, architecture, presentation,</a:t>
            </a:r>
          </a:p>
          <a:p xmlns:a="http://schemas.openxmlformats.org/drawingml/2006/main">
            <a:pPr>
              <a:defRPr sz="2250" b="0">
                <a:solidFill>
                  <a:srgbClr val="EDF5FA"/>
                </a:solidFill>
                <a:latin typeface="Arial"/>
                <a:ea typeface="Arial"/>
                <a:cs typeface="Arial"/>
              </a:defRPr>
            </a:pPr>
            <a:r>
              <a:rPr sz="2250" b="0">
                <a:solidFill>
                  <a:srgbClr val="EDF5FA"/>
                </a:solidFill>
                <a:latin typeface="Arial"/>
                <a:ea typeface="Arial"/>
                <a:cs typeface="Arial"/>
              </a:rPr>
              <a:t>demo video and reproducible evaluation evidence.</a:t>
            </a:r>
          </a:p>
        </p:txBody>
      </p:sp>
      <p:sp>
        <p:nvSpPr>
          <p:cNvPr id="6" name="">
            <a:extLst xmlns:a="http://schemas.openxmlformats.org/drawingml/2006/main">
              <a:ext uri="{FF2B5EF4-FFF2-40B4-BE49-F238E27FC236}">
                <a16:creationId xmlns:a16="http://schemas.microsoft.com/office/drawing/2014/main" id="{1C8392C1-B8A2-40AF-A40F-AACE4A34296A}"/>
              </a:ext>
            </a:extLst>
          </p:cNvPr>
          <p:cNvSpPr>
            <a:spLocks xmlns:a="http://schemas.openxmlformats.org/drawingml/2006/main" noGrp="1"/>
          </p:cNvSpPr>
          <p:nvPr/>
        </p:nvSpPr>
        <p:spPr>
          <a:xfrm xmlns:a="http://schemas.openxmlformats.org/drawingml/2006/main">
            <a:off x="685800" y="57721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9EB6C7"/>
                </a:solidFill>
                <a:latin typeface="Arial"/>
                <a:ea typeface="Arial"/>
                <a:cs typeface="Arial"/>
              </a:defRPr>
            </a:pPr>
            <a:r>
              <a:rPr sz="1650" b="0">
                <a:solidFill>
                  <a:srgbClr val="9EB6C7"/>
                </a:solidFill>
                <a:latin typeface="Arial"/>
                <a:ea typeface="Arial"/>
                <a:cs typeface="Arial"/>
              </a:rPr>
              <a:t>TechTitan  ·  Gaurav Vyas  ·  Utkarsh Umang  ·  Shivam Salve</a:t>
            </a:r>
          </a:p>
        </p:txBody>
      </p:sp>
    </p:spTree>
    <p:extLst>
      <p:ext uri="{BB962C8B-B14F-4D97-AF65-F5344CB8AC3E}">
        <p14:creationId xmlns:p14="http://schemas.microsoft.com/office/powerpoint/2010/main" val="17324704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2026-09-12T09:14:47.9370000Z</dcterms:created>
  <dcterms:modified xsi:type="dcterms:W3CDTF">2026-09-12T09:14:47.9370000Z</dcterms:modified>
</coreProperties>
</file>