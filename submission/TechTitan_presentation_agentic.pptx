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2f92f0dde75464c" Type="http://schemas.openxmlformats.org/officeDocument/2006/relationships/officeDocument" Target="ppt/presentation.xml"/><Relationship Id="R1e6471cdf7de4096" Type="http://schemas.openxmlformats.org/officeDocument/2006/relationships/extended-properties" Target="docProps/app.xml"/><Relationship Id="R60e31e211b01405e"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ef09eb1de554e04"/>
  </p:sldMasterIdLst>
  <p:notesMasterIdLst>
    <p:notesMasterId xmlns:r="http://schemas.openxmlformats.org/officeDocument/2006/relationships" r:id="R3be76c3f6dd04853"/>
  </p:notesMasterIdLst>
  <p:sldIdLst>
    <p:sldId xmlns:r="http://schemas.openxmlformats.org/officeDocument/2006/relationships" id="256" r:id="Re3d6bffdd55e44e9"/>
    <p:sldId xmlns:r="http://schemas.openxmlformats.org/officeDocument/2006/relationships" id="257" r:id="Ra62e9889429b4d9a"/>
    <p:sldId xmlns:r="http://schemas.openxmlformats.org/officeDocument/2006/relationships" id="258" r:id="Rd4b3611f15ef4f31"/>
    <p:sldId xmlns:r="http://schemas.openxmlformats.org/officeDocument/2006/relationships" id="259" r:id="Rdbd001a6d676491a"/>
    <p:sldId xmlns:r="http://schemas.openxmlformats.org/officeDocument/2006/relationships" id="260" r:id="R067f28a22b5540e6"/>
    <p:sldId xmlns:r="http://schemas.openxmlformats.org/officeDocument/2006/relationships" id="261" r:id="R0d6a1b2500a94cc7"/>
    <p:sldId xmlns:r="http://schemas.openxmlformats.org/officeDocument/2006/relationships" id="262" r:id="R0b6e595d0e9241a3"/>
    <p:sldId xmlns:r="http://schemas.openxmlformats.org/officeDocument/2006/relationships" id="263" r:id="Rd1714d40bb234d87"/>
    <p:sldId xmlns:r="http://schemas.openxmlformats.org/officeDocument/2006/relationships" id="264" r:id="R661d9097099349bd"/>
    <p:sldId xmlns:r="http://schemas.openxmlformats.org/officeDocument/2006/relationships" id="265" r:id="R8c2c90e8550d4e2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7f28a22b5540e6" Type="http://schemas.openxmlformats.org/officeDocument/2006/relationships/slide" Target="slides/slide5.xml"/><Relationship Id="R074b7cfeac294f6f" Type="http://schemas.openxmlformats.org/officeDocument/2006/relationships/tableStyles" Target="tableStyles.xml"/><Relationship Id="R0b6e595d0e9241a3" Type="http://schemas.openxmlformats.org/officeDocument/2006/relationships/slide" Target="slides/slide7.xml"/><Relationship Id="R0d6a1b2500a94cc7" Type="http://schemas.openxmlformats.org/officeDocument/2006/relationships/slide" Target="slides/slide6.xml"/><Relationship Id="R2ef09eb1de554e04" Type="http://schemas.openxmlformats.org/officeDocument/2006/relationships/slideMaster" Target="slideMasters/slideMaster1.xml"/><Relationship Id="R3be76c3f6dd04853" Type="http://schemas.openxmlformats.org/officeDocument/2006/relationships/notesMaster" Target="notesMasters/notesMaster1.xml"/><Relationship Id="R5cd6b954dda04d3a" Type="http://schemas.openxmlformats.org/officeDocument/2006/relationships/presProps" Target="presProps.xml"/><Relationship Id="R661d9097099349bd" Type="http://schemas.openxmlformats.org/officeDocument/2006/relationships/slide" Target="slides/slide9.xml"/><Relationship Id="R8c2c90e8550d4e23" Type="http://schemas.openxmlformats.org/officeDocument/2006/relationships/slide" Target="slides/slide10.xml"/><Relationship Id="Ra62e9889429b4d9a" Type="http://schemas.openxmlformats.org/officeDocument/2006/relationships/slide" Target="slides/slide2.xml"/><Relationship Id="Rd1714d40bb234d87" Type="http://schemas.openxmlformats.org/officeDocument/2006/relationships/slide" Target="slides/slide8.xml"/><Relationship Id="Rd4b3611f15ef4f31" Type="http://schemas.openxmlformats.org/officeDocument/2006/relationships/slide" Target="slides/slide3.xml"/><Relationship Id="Rdbd001a6d676491a" Type="http://schemas.openxmlformats.org/officeDocument/2006/relationships/slide" Target="slides/slide4.xml"/><Relationship Id="Re3d6bffdd55e44e9" Type="http://schemas.openxmlformats.org/officeDocument/2006/relationships/slide" Target="slides/slide1.xml"/><Relationship Id="Re996ec970e3e4186"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87aec00e58604dc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308df0235ce499a" Type="http://schemas.openxmlformats.org/officeDocument/2006/relationships/notesMaster" Target="../notesMasters/notesMaster1.xml"/><Relationship Id="R5a704b815f134d16"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29fb595b4ed4ed7" Type="http://schemas.openxmlformats.org/officeDocument/2006/relationships/slide" Target="../slides/slide2.xml"/><Relationship Id="Rfc70163ad3f94c19"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10bbfaba355844c5" Type="http://schemas.openxmlformats.org/officeDocument/2006/relationships/notesMaster" Target="../notesMasters/notesMaster1.xml"/><Relationship Id="R928df17223384390"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d73989005b142e1" Type="http://schemas.openxmlformats.org/officeDocument/2006/relationships/notesMaster" Target="../notesMasters/notesMaster1.xml"/><Relationship Id="R95bd549d1b77453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cb49f6c79d294409" Type="http://schemas.openxmlformats.org/officeDocument/2006/relationships/notesMaster" Target="../notesMasters/notesMaster1.xml"/><Relationship Id="Rf63004e874a449a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64a943be04d4754" Type="http://schemas.openxmlformats.org/officeDocument/2006/relationships/notesMaster" Target="../notesMasters/notesMaster1.xml"/><Relationship Id="Rbfeab601ca6b448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1233e43bc3e4117" Type="http://schemas.openxmlformats.org/officeDocument/2006/relationships/slide" Target="../slides/slide7.xml"/><Relationship Id="Ra31eba587ca5417a"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a9e2911785cb4e7d" Type="http://schemas.openxmlformats.org/officeDocument/2006/relationships/notesMaster" Target="../notesMasters/notesMaster1.xml"/><Relationship Id="Re2f2f183948846a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7ecb2b0577044595" Type="http://schemas.openxmlformats.org/officeDocument/2006/relationships/notesMaster" Target="../notesMasters/notesMaster1.xml"/><Relationship Id="Rebaea3d4d01d468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812730232034563" Type="http://schemas.openxmlformats.org/officeDocument/2006/relationships/notesMaster" Target="../notesMasters/notesMaster1.xml"/><Relationship Id="R206d156ce05c49c8" Type="http://schemas.openxmlformats.org/officeDocument/2006/relationships/slide" Target="../slides/slide1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present a working Round 1 solution using original synthetic logistics data. This is a symbolic model-based planning agent, not an LLM chatbot.</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values are authored simulator inputs. Expected impact is better recovery discipline and less manual rework; no measured industry savings are claimed.</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controller branches on feedback. Stale commits return to observation; infeasibility escalates; integrity mismatches stop completion. Candidate allocations are computed dynamically. Known faults are environment fixtures; judges can inject other outages.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editable diagram shows major components. Tools are local functions, not separate network microservices. SQLite transaction persistence covers each world mutation and its event. Retrieval is catalog lookup; no RAG or external model is claimed. See docs/ARCHITECTURE.md for the full feedback graph and contracts.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come from submission/TechTitan_evidence_agentic.json. Cuttack is withdrawn after the first plan. Puri closes after the second plan is committed. Forty valid Khordha units remain; the next action adds forty Khordha and twenty Berhampur. Cancellation is pre-dispatch, fully refundable, with no sunk carbon in the simulator.</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Verification scope is reservations and projected inventory coverage in the simulator. This is not physical delivery confirmation. Budget headroom is INR 2,300 and deadline headroom is two hours. Do not interpret synthetic carbon attributes as audited measurements.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Measured by evaluate.py and tests/test_engine.py. The independent oracle does not call the planner or its total calculator. Feasible and infeasible counts are separate to avoid treating impossible goals as algorithm failures. All test inputs are included in the evaluation JSON. The simple baseline ignores global carbon constraints until post-checking and has no recovery.</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screenshot from the working application, captured after the two-disruption workflow. It is evidence, not an illustrative mockup. The demo video records real UI actions with synthetic computer narration and captions.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enumerator does not scale to production network size. A next implementation would introduce MILP/CP optimization, real ERP adapters, partial/sunk cancellation costs, stochastic transit and authentication. Current results apply only to the disclosed model.</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6 was selected because the entire sandbox and objective verification can be built with owned synthetic data. No qualification or business-performance guarantee is made. Public source and deliverables: https://github.com/realgauravvyas/TechTitan-RouteGuard-Agentic</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3f74fe96a69470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94cc7d1e1284d27" Type="http://schemas.openxmlformats.org/officeDocument/2006/relationships/slideLayout" Target="../slideLayouts/slideLayout1.xml"/><Relationship Id="Rfe25bb29940a436b"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4cc7d1e1284d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b7273cdf4dc74608" Type="http://schemas.openxmlformats.org/officeDocument/2006/relationships/notesSlide" Target="../notesSlides/notesSlide1.xml"/><Relationship Id="Re0e52cc0a19c424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143522f9ad7c4f2a" Type="http://schemas.openxmlformats.org/officeDocument/2006/relationships/notesSlide" Target="../notesSlides/notesSlide2.xml"/><Relationship Id="Re93203f691db4e0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4dad439523f44f62" Type="http://schemas.openxmlformats.org/officeDocument/2006/relationships/notesSlide" Target="../notesSlides/notesSlide3.xml"/><Relationship Id="R6af5c3bd35bc421b"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6c88733b8b2a40ab" Type="http://schemas.openxmlformats.org/officeDocument/2006/relationships/slideLayout" Target="../slideLayouts/slideLayout1.xml"/><Relationship Id="Rb0f2188b8e46476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a13a781392514bcd" Type="http://schemas.openxmlformats.org/officeDocument/2006/relationships/slideLayout" Target="../slideLayouts/slideLayout1.xml"/><Relationship Id="Rdd337bd4df87464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6a86ba49a4b5464f" Type="http://schemas.openxmlformats.org/officeDocument/2006/relationships/notesSlide" Target="../notesSlides/notesSlide6.xml"/><Relationship Id="Rab46d5cda4f2491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1dd58b6cadf7430c" Type="http://schemas.openxmlformats.org/officeDocument/2006/relationships/notesSlide" Target="../notesSlides/notesSlide7.xml"/><Relationship Id="Rac51a7b7d159495d"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5a0a62ada5ad4208" Type="http://schemas.openxmlformats.org/officeDocument/2006/relationships/slideLayout" Target="../slideLayouts/slideLayout1.xml"/><Relationship Id="R5b5f893b36bd4075" Type="http://schemas.openxmlformats.org/officeDocument/2006/relationships/notesSlide" Target="../notesSlides/notesSlide8.xml"/><Relationship Id="Re0a254c00ffe47a5" Type="http://schemas.openxmlformats.org/officeDocument/2006/relationships/image" Target="../media/image.png"/></Relationships>
</file>

<file path=ppt/slides/_rels/slide9.xml.rels><?xml version='1.0' encoding='UTF-8' standalone='yes'?>
<Relationships xmlns="http://schemas.openxmlformats.org/package/2006/relationships"><Relationship Id="R1b094e5936a34e3c" Type="http://schemas.openxmlformats.org/officeDocument/2006/relationships/notesSlide" Target="../notesSlides/notesSlide9.xml"/><Relationship Id="Rc53388f0dd5240c8"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60d938a0267f4fcb" Type="http://schemas.openxmlformats.org/officeDocument/2006/relationships/slideLayout" Target="../slideLayouts/slideLayout1.xml"/><Relationship Id="Rf1fe9f9c065c4081" Type="http://schemas.openxmlformats.org/officeDocument/2006/relationships/notesSlide" Target="../notesSlides/notesSlide10.xml"/></Relationships>
</file>

<file path=ppt/slides/slide1.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xmlns:a="http://schemas.openxmlformats.org/drawingml/2006/main">
        <p:nvSpPr>
          <p:cNvPr id="8" name="Rectangle 7"/>
          <p:cNvSpPr/>
          <p:nvPr/>
        </p:nvSpPr>
        <p:spPr>
          <a:xfrm rot="21534000">
            <a:off x="600000" y="2310000"/>
            <a:ext cx="5100000" cy="690000"/>
          </a:xfrm>
          <a:prstGeom prst="rect">
            <a:avLst/>
          </a:prstGeom>
          <a:solidFill>
            <a:srgbClr val="FFF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
            <a:extLst xmlns:a="http://schemas.openxmlformats.org/drawingml/2006/main">
              <a:ext uri="{FF2B5EF4-FFF2-40B4-BE49-F238E27FC236}">
                <a16:creationId xmlns:a16="http://schemas.microsoft.com/office/drawing/2014/main" id="{99ED812B-7059-49BD-A570-62B09A4CC695}"/>
              </a:ext>
            </a:extLst>
          </p:cNvPr>
          <p:cNvSpPr>
            <a:spLocks xmlns:a="http://schemas.openxmlformats.org/drawingml/2006/main" noGrp="1"/>
          </p:cNvSpPr>
          <p:nvPr/>
        </p:nvSpPr>
        <p:spPr>
          <a:xfrm xmlns:a="http://schemas.openxmlformats.org/drawingml/2006/main">
            <a:off x="666750" y="6667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6452C"/>
                </a:solidFill>
                <a:latin typeface="Calibri"/>
                <a:ea typeface="Calibri"/>
                <a:cs typeface="Calibri"/>
              </a:defRPr>
            </a:pPr>
            <a:r>
              <a:rPr sz="1575" b="1">
                <a:solidFill>
                  <a:srgbClr val="D6452C"/>
                </a:solidFill>
                <a:latin typeface="Calibri"/>
                <a:ea typeface="Calibri"/>
                <a:cs typeface="Calibri"/>
              </a:rPr>
              <a:t>TECHTITAN  /  PROBLEM 06</a:t>
            </a:r>
          </a:p>
        </p:txBody>
      </p:sp>
      <p:sp>
        <p:nvSpPr>
          <p:cNvPr id="2" name="">
            <a:extLst xmlns:a="http://schemas.openxmlformats.org/drawingml/2006/main">
              <a:ext uri="{FF2B5EF4-FFF2-40B4-BE49-F238E27FC236}">
                <a16:creationId xmlns:a16="http://schemas.microsoft.com/office/drawing/2014/main" id="{75C5A57D-2E94-4CCC-866C-68192155C77B}"/>
              </a:ext>
            </a:extLst>
          </p:cNvPr>
          <p:cNvSpPr>
            <a:spLocks xmlns:a="http://schemas.openxmlformats.org/drawingml/2006/main" noGrp="1"/>
          </p:cNvSpPr>
          <p:nvPr/>
        </p:nvSpPr>
        <p:spPr>
          <a:xfrm xmlns:a="http://schemas.openxmlformats.org/drawingml/2006/main">
            <a:off x="609600" y="184785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322B24"/>
                </a:solidFill>
                <a:latin typeface="Trebuchet MS"/>
                <a:ea typeface="Trebuchet MS"/>
                <a:cs typeface="Trebuchet MS"/>
              </a:defRPr>
            </a:pPr>
            <a:r>
              <a:rPr sz="7200" b="1">
                <a:solidFill>
                  <a:srgbClr val="322B24"/>
                </a:solidFill>
                <a:latin typeface="Trebuchet MS"/>
                <a:ea typeface="Trebuchet MS"/>
                <a:cs typeface="Trebuchet MS"/>
              </a:rPr>
              <a:t>RouteGuard</a:t>
            </a:r>
          </a:p>
        </p:txBody>
      </p:sp>
      <p:sp>
        <p:nvSpPr>
          <p:cNvPr id="3" name="">
            <a:extLst xmlns:a="http://schemas.openxmlformats.org/drawingml/2006/main">
              <a:ext uri="{FF2B5EF4-FFF2-40B4-BE49-F238E27FC236}">
                <a16:creationId xmlns:a16="http://schemas.microsoft.com/office/drawing/2014/main" id="{BEE2113F-8287-40F3-A02F-9D155E2D4E0D}"/>
              </a:ext>
            </a:extLst>
          </p:cNvPr>
          <p:cNvSpPr>
            <a:spLocks xmlns:a="http://schemas.openxmlformats.org/drawingml/2006/main" noGrp="1"/>
          </p:cNvSpPr>
          <p:nvPr/>
        </p:nvSpPr>
        <p:spPr>
          <a:xfrm xmlns:a="http://schemas.openxmlformats.org/drawingml/2006/main">
            <a:off x="666750" y="32289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6E6455"/>
                </a:solidFill>
                <a:latin typeface="Trebuchet MS"/>
                <a:ea typeface="Trebuchet MS"/>
                <a:cs typeface="Trebuchet MS"/>
              </a:defRPr>
            </a:pPr>
            <a:r>
              <a:rPr sz="2625" b="0">
                <a:solidFill>
                  <a:srgbClr val="6E6455"/>
                </a:solidFill>
                <a:latin typeface="Trebuchet MS"/>
                <a:ea typeface="Trebuchet MS"/>
                <a:cs typeface="Trebuchet MS"/>
              </a:rPr>
              <a:t>Autonomous retail supply chain recovery</a:t>
            </a:r>
          </a:p>
        </p:txBody>
      </p:sp>
      <p:sp>
        <p:nvSpPr>
          <p:cNvPr id="4" name="">
            <a:extLst xmlns:a="http://schemas.openxmlformats.org/drawingml/2006/main">
              <a:ext uri="{FF2B5EF4-FFF2-40B4-BE49-F238E27FC236}">
                <a16:creationId xmlns:a16="http://schemas.microsoft.com/office/drawing/2014/main" id="{C74382EF-2087-4D3A-82FB-EE013A08E7C3}"/>
              </a:ext>
            </a:extLst>
          </p:cNvPr>
          <p:cNvSpPr>
            <a:spLocks xmlns:a="http://schemas.openxmlformats.org/drawingml/2006/main" noGrp="1"/>
          </p:cNvSpPr>
          <p:nvPr/>
        </p:nvSpPr>
        <p:spPr>
          <a:xfrm xmlns:a="http://schemas.openxmlformats.org/drawingml/2006/main">
            <a:off x="666750" y="4905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322B24"/>
                </a:solidFill>
                <a:latin typeface="Calibri"/>
                <a:ea typeface="Calibri"/>
                <a:cs typeface="Calibri"/>
              </a:defRPr>
            </a:pPr>
            <a:r>
              <a:rPr sz="1875" b="0">
                <a:solidFill>
                  <a:srgbClr val="322B24"/>
                </a:solidFill>
                <a:latin typeface="Calibri"/>
                <a:ea typeface="Calibri"/>
                <a:cs typeface="Calibri"/>
              </a:rPr>
              <a:t>Gaurav Vyas · Team leader</a:t>
            </a:r>
          </a:p>
          <a:p xmlns:a="http://schemas.openxmlformats.org/drawingml/2006/main">
            <a:pPr>
              <a:defRPr sz="1875" b="0">
                <a:solidFill>
                  <a:srgbClr val="322B24"/>
                </a:solidFill>
                <a:latin typeface="Calibri"/>
                <a:ea typeface="Calibri"/>
                <a:cs typeface="Calibri"/>
              </a:defRPr>
            </a:pPr>
            <a:r>
              <a:rPr sz="1875" b="0">
                <a:solidFill>
                  <a:srgbClr val="322B24"/>
                </a:solidFill>
                <a:latin typeface="Calibri"/>
                <a:ea typeface="Calibri"/>
                <a:cs typeface="Calibri"/>
              </a:rPr>
              <a:t>Utkarsh Umang · Shivam Salve</a:t>
            </a:r>
          </a:p>
        </p:txBody>
      </p:sp>
      <p:sp>
        <p:nvSpPr>
          <p:cNvPr id="5" name="">
            <a:extLst xmlns:a="http://schemas.openxmlformats.org/drawingml/2006/main">
              <a:ext uri="{FF2B5EF4-FFF2-40B4-BE49-F238E27FC236}">
                <a16:creationId xmlns:a16="http://schemas.microsoft.com/office/drawing/2014/main" id="{D4785739-1831-415A-865D-005E3E5AA32B}"/>
              </a:ext>
            </a:extLst>
          </p:cNvPr>
          <p:cNvSpPr>
            <a:spLocks xmlns:a="http://schemas.openxmlformats.org/drawingml/2006/main" noGrp="1"/>
          </p:cNvSpPr>
          <p:nvPr/>
        </p:nvSpPr>
        <p:spPr>
          <a:xfrm xmlns:a="http://schemas.openxmlformats.org/drawingml/2006/main">
            <a:off x="666750" y="61626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E6455"/>
                </a:solidFill>
                <a:latin typeface="Calibri"/>
                <a:ea typeface="Calibri"/>
                <a:cs typeface="Calibri"/>
              </a:defRPr>
            </a:pPr>
            <a:r>
              <a:rPr sz="1425" b="0">
                <a:solidFill>
                  <a:srgbClr val="6E6455"/>
                </a:solidFill>
                <a:latin typeface="Calibri"/>
                <a:ea typeface="Calibri"/>
                <a:cs typeface="Calibri"/>
              </a:rPr>
              <a:t>Agentic AI Hackathon · Tech Zephyr 4.0 · IIT Bhubaneswar</a:t>
            </a:r>
          </a:p>
        </p:txBody>
      </p:sp>
      <p:sp xmlns:a="http://schemas.openxmlformats.org/drawingml/2006/main">
        <p:nvSpPr>
          <p:cNvPr id="7" name="Rectangle 6"/>
          <p:cNvSpPr/>
          <p:nvPr/>
        </p:nvSpPr>
        <p:spPr>
          <a:xfrm>
            <a:off x="0" y="6698000"/>
            <a:ext cx="12192000" cy="160000"/>
          </a:xfrm>
          <a:prstGeom prst="rect">
            <a:avLst/>
          </a:prstGeom>
          <a:solidFill>
            <a:srgbClr val="D6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Oval 8"/>
          <p:cNvSpPr/>
          <p:nvPr/>
        </p:nvSpPr>
        <p:spPr>
          <a:xfrm>
            <a:off x="10750000" y="430000"/>
            <a:ext cx="340000" cy="340000"/>
          </a:xfrm>
          <a:prstGeom prst="ellipse">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Oval 9"/>
          <p:cNvSpPr/>
          <p:nvPr/>
        </p:nvSpPr>
        <p:spPr>
          <a:xfrm>
            <a:off x="11220000" y="690000"/>
            <a:ext cx="170000" cy="170000"/>
          </a:xfrm>
          <a:prstGeom prst="ellipse">
            <a:avLst/>
          </a:prstGeom>
          <a:solidFill>
            <a:srgbClr val="D6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Plus 10"/>
          <p:cNvSpPr/>
          <p:nvPr/>
        </p:nvSpPr>
        <p:spPr>
          <a:xfrm rot="720000">
            <a:off x="300000" y="5760000"/>
            <a:ext cx="300000" cy="300000"/>
          </a:xfrm>
          <a:prstGeom prst="mathPlus">
            <a:avLst/>
          </a:prstGeom>
          <a:solidFill>
            <a:srgbClr val="C64C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rot="1200000">
            <a:off x="11430000" y="4780000"/>
            <a:ext cx="260000" cy="260000"/>
          </a:xfrm>
          <a:prstGeom prst="rect">
            <a:avLst/>
          </a:prstGeom>
          <a:solidFill>
            <a:srgbClr val="C89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587987628"/>
      </p:ext>
    </p:extLst>
  </p:cSld>
</p:sld>
</file>

<file path=ppt/slides/slide2.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314E51-A9A5-426C-9857-7CA0E3D5B4F3}"/>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The recovery problem</a:t>
            </a:r>
          </a:p>
        </p:txBody>
      </p:sp>
      <p:sp>
        <p:nvSpPr>
          <p:cNvPr id="2" name="">
            <a:extLst xmlns:a="http://schemas.openxmlformats.org/drawingml/2006/main">
              <a:ext uri="{FF2B5EF4-FFF2-40B4-BE49-F238E27FC236}">
                <a16:creationId xmlns:a16="http://schemas.microsoft.com/office/drawing/2014/main" id="{BEB1006B-7E64-4BDB-B002-34B0184D15CF}"/>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A late shipment threatens store inventory; the recovery must respect every constraint.</a:t>
            </a:r>
          </a:p>
        </p:txBody>
      </p:sp>
      <p:sp>
        <p:nvSpPr>
          <p:cNvPr id="3" name="">
            <a:extLst xmlns:a="http://schemas.openxmlformats.org/drawingml/2006/main">
              <a:ext uri="{FF2B5EF4-FFF2-40B4-BE49-F238E27FC236}">
                <a16:creationId xmlns:a16="http://schemas.microsoft.com/office/drawing/2014/main" id="{95D97A81-08CB-49EC-9E39-43FC88FF12D5}"/>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02</a:t>
            </a:r>
          </a:p>
        </p:txBody>
      </p:sp>
      <p:sp>
        <p:nvSpPr>
          <p:cNvPr id="4" name="">
            <a:extLst xmlns:a="http://schemas.openxmlformats.org/drawingml/2006/main">
              <a:ext uri="{FF2B5EF4-FFF2-40B4-BE49-F238E27FC236}">
                <a16:creationId xmlns:a16="http://schemas.microsoft.com/office/drawing/2014/main" id="{EA4A43A8-672C-4BC1-A6F1-390EAD163DC5}"/>
              </a:ext>
            </a:extLst>
          </p:cNvPr>
          <p:cNvSpPr>
            <a:spLocks xmlns:a="http://schemas.openxmlformats.org/drawingml/2006/main" noGrp="1"/>
          </p:cNvSpPr>
          <p:nvPr/>
        </p:nvSpPr>
        <p:spPr>
          <a:xfrm xmlns:a="http://schemas.openxmlformats.org/drawingml/2006/main">
            <a:off x="619125" y="2324100"/>
            <a:ext cx="542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E6FAE"/>
                </a:solidFill>
                <a:latin typeface="Trebuchet MS"/>
                <a:ea typeface="Trebuchet MS"/>
                <a:cs typeface="Trebuchet MS"/>
              </a:defRPr>
            </a:pPr>
            <a:r>
              <a:rPr sz="5400" b="1">
                <a:solidFill>
                  <a:srgbClr val="2E6FAE"/>
                </a:solidFill>
                <a:latin typeface="Trebuchet MS"/>
                <a:ea typeface="Trebuchet MS"/>
                <a:cs typeface="Trebuchet MS"/>
              </a:rPr>
              <a:t>100 units</a:t>
            </a:r>
          </a:p>
        </p:txBody>
      </p:sp>
      <p:sp>
        <p:nvSpPr>
          <p:cNvPr id="5" name="">
            <a:extLst xmlns:a="http://schemas.openxmlformats.org/drawingml/2006/main">
              <a:ext uri="{FF2B5EF4-FFF2-40B4-BE49-F238E27FC236}">
                <a16:creationId xmlns:a16="http://schemas.microsoft.com/office/drawing/2014/main" id="{8D5AC2E4-DFAE-41F3-A2A5-9E598334E958}"/>
              </a:ext>
            </a:extLst>
          </p:cNvPr>
          <p:cNvSpPr>
            <a:spLocks xmlns:a="http://schemas.openxmlformats.org/drawingml/2006/main" noGrp="1"/>
          </p:cNvSpPr>
          <p:nvPr/>
        </p:nvSpPr>
        <p:spPr>
          <a:xfrm xmlns:a="http://schemas.openxmlformats.org/drawingml/2006/main">
            <a:off x="666750" y="3286125"/>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322B24"/>
                </a:solidFill>
                <a:latin typeface="Calibri"/>
                <a:ea typeface="Calibri"/>
                <a:cs typeface="Calibri"/>
              </a:defRPr>
            </a:pPr>
            <a:r>
              <a:rPr sz="2100" b="0">
                <a:solidFill>
                  <a:srgbClr val="322B24"/>
                </a:solidFill>
                <a:latin typeface="Calibri"/>
                <a:ea typeface="Calibri"/>
                <a:cs typeface="Calibri"/>
              </a:rPr>
              <a:t>needed before the deadline</a:t>
            </a:r>
          </a:p>
        </p:txBody>
      </p:sp>
      <p:sp>
        <p:nvSpPr>
          <p:cNvPr id="6" name="">
            <a:extLst xmlns:a="http://schemas.openxmlformats.org/drawingml/2006/main">
              <a:ext uri="{FF2B5EF4-FFF2-40B4-BE49-F238E27FC236}">
                <a16:creationId xmlns:a16="http://schemas.microsoft.com/office/drawing/2014/main" id="{F8A86BB0-6F18-46A5-9553-35C10349EDA3}"/>
              </a:ext>
            </a:extLst>
          </p:cNvPr>
          <p:cNvSpPr>
            <a:spLocks xmlns:a="http://schemas.openxmlformats.org/drawingml/2006/main" noGrp="1"/>
          </p:cNvSpPr>
          <p:nvPr/>
        </p:nvSpPr>
        <p:spPr>
          <a:xfrm xmlns:a="http://schemas.openxmlformats.org/drawingml/2006/main">
            <a:off x="7048500" y="2228850"/>
            <a:ext cx="43338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322B24"/>
                </a:solidFill>
                <a:latin typeface="Trebuchet MS"/>
                <a:ea typeface="Trebuchet MS"/>
                <a:cs typeface="Trebuchet MS"/>
              </a:defRPr>
            </a:pPr>
            <a:r>
              <a:rPr sz="2625" b="0">
                <a:solidFill>
                  <a:srgbClr val="322B24"/>
                </a:solidFill>
                <a:latin typeface="Trebuchet MS"/>
                <a:ea typeface="Trebuchet MS"/>
                <a:cs typeface="Trebuchet MS"/>
              </a:rPr>
              <a:t>INR 14,000 budget</a:t>
            </a:r>
          </a:p>
          <a:p xmlns:a="http://schemas.openxmlformats.org/drawingml/2006/main">
            <a:pPr>
              <a:defRPr sz="2625" b="0">
                <a:solidFill>
                  <a:srgbClr val="322B24"/>
                </a:solidFill>
                <a:latin typeface="Trebuchet MS"/>
                <a:ea typeface="Trebuchet MS"/>
                <a:cs typeface="Trebuchet MS"/>
              </a:defRPr>
            </a:pPr>
            <a:r>
              <a:rPr sz="2625" b="0">
                <a:solidFill>
                  <a:srgbClr val="322B24"/>
                </a:solidFill>
                <a:latin typeface="Trebuchet MS"/>
                <a:ea typeface="Trebuchet MS"/>
                <a:cs typeface="Trebuchet MS"/>
              </a:rPr>
              <a:t>24-hour deadline</a:t>
            </a:r>
          </a:p>
          <a:p xmlns:a="http://schemas.openxmlformats.org/drawingml/2006/main">
            <a:pPr>
              <a:defRPr sz="2625" b="0">
                <a:solidFill>
                  <a:srgbClr val="322B24"/>
                </a:solidFill>
                <a:latin typeface="Trebuchet MS"/>
                <a:ea typeface="Trebuchet MS"/>
                <a:cs typeface="Trebuchet MS"/>
              </a:defRPr>
            </a:pPr>
            <a:r>
              <a:rPr sz="2625" b="0">
                <a:solidFill>
                  <a:srgbClr val="322B24"/>
                </a:solidFill>
                <a:latin typeface="Trebuchet MS"/>
                <a:ea typeface="Trebuchet MS"/>
                <a:cs typeface="Trebuchet MS"/>
              </a:rPr>
              <a:t>110 kg CO2e limit</a:t>
            </a:r>
          </a:p>
        </p:txBody>
      </p:sp>
      <p:sp>
        <p:nvSpPr>
          <p:cNvPr id="7" name="">
            <a:extLst xmlns:a="http://schemas.openxmlformats.org/drawingml/2006/main">
              <a:ext uri="{FF2B5EF4-FFF2-40B4-BE49-F238E27FC236}">
                <a16:creationId xmlns:a16="http://schemas.microsoft.com/office/drawing/2014/main" id="{9478C2C6-183A-4C22-976F-CCA3DC4FCD07}"/>
              </a:ext>
            </a:extLst>
          </p:cNvPr>
          <p:cNvSpPr>
            <a:spLocks xmlns:a="http://schemas.openxmlformats.org/drawingml/2006/main" noGrp="1"/>
          </p:cNvSpPr>
          <p:nvPr/>
        </p:nvSpPr>
        <p:spPr>
          <a:xfrm xmlns:a="http://schemas.openxmlformats.org/drawingml/2006/main">
            <a:off x="666750" y="46005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6E6455"/>
                </a:solidFill>
                <a:latin typeface="Calibri"/>
                <a:ea typeface="Calibri"/>
                <a:cs typeface="Calibri"/>
              </a:defRPr>
            </a:pPr>
            <a:r>
              <a:rPr sz="2100" b="0">
                <a:solidFill>
                  <a:srgbClr val="6E6455"/>
                </a:solidFill>
                <a:latin typeface="Calibri"/>
                <a:ea typeface="Calibri"/>
                <a:cs typeface="Calibri"/>
              </a:rPr>
              <a:t>Target users: retail operations teams coordinating inventory, suppliers and transport.</a:t>
            </a:r>
          </a:p>
        </p:txBody>
      </p:sp>
      <p:sp>
        <p:nvSpPr>
          <p:cNvPr id="8" name="">
            <a:extLst xmlns:a="http://schemas.openxmlformats.org/drawingml/2006/main">
              <a:ext uri="{FF2B5EF4-FFF2-40B4-BE49-F238E27FC236}">
                <a16:creationId xmlns:a16="http://schemas.microsoft.com/office/drawing/2014/main" id="{84214979-53BC-4618-8C7B-B425123E0195}"/>
              </a:ext>
            </a:extLst>
          </p:cNvPr>
          <p:cNvSpPr>
            <a:spLocks xmlns:a="http://schemas.openxmlformats.org/drawingml/2006/main" noGrp="1"/>
          </p:cNvSpPr>
          <p:nvPr/>
        </p:nvSpPr>
        <p:spPr>
          <a:xfrm xmlns:a="http://schemas.openxmlformats.org/drawingml/2006/main">
            <a:off x="666750" y="55816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E6455"/>
                </a:solidFill>
                <a:latin typeface="Calibri"/>
                <a:ea typeface="Calibri"/>
                <a:cs typeface="Calibri"/>
              </a:defRPr>
            </a:pPr>
            <a:r>
              <a:rPr sz="1650" b="0">
                <a:solidFill>
                  <a:srgbClr val="6E6455"/>
                </a:solidFill>
                <a:latin typeface="Calibri"/>
                <a:ea typeface="Calibri"/>
                <a:cs typeface="Calibri"/>
              </a:rPr>
              <a:t>Simulation: 20 units on hand; demand 120; original shipment ETA 36 hours.</a:t>
            </a:r>
          </a:p>
        </p:txBody>
      </p:sp>
      <p:sp xmlns:a="http://schemas.openxmlformats.org/drawingml/2006/main">
        <p:nvSpPr>
          <p:cNvPr id="10" name="Rectangle 9"/>
          <p:cNvSpPr/>
          <p:nvPr/>
        </p:nvSpPr>
        <p:spPr>
          <a:xfrm rot="21522000">
            <a:off x="639600" y="1067200"/>
            <a:ext cx="4100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0" y="6698000"/>
            <a:ext cx="12192000" cy="160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027379442"/>
      </p:ext>
    </p:extLst>
  </p:cSld>
</p:sld>
</file>

<file path=ppt/slides/slide3.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55EB98-6A77-4EA5-B444-3B033B2EC93B}"/>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A goal-driven recovery loop</a:t>
            </a:r>
          </a:p>
        </p:txBody>
      </p:sp>
      <p:sp>
        <p:nvSpPr>
          <p:cNvPr id="2" name="">
            <a:extLst xmlns:a="http://schemas.openxmlformats.org/drawingml/2006/main">
              <a:ext uri="{FF2B5EF4-FFF2-40B4-BE49-F238E27FC236}">
                <a16:creationId xmlns:a16="http://schemas.microsoft.com/office/drawing/2014/main" id="{B6BEA0C5-C0DC-409C-8CC9-77C5A2D0F454}"/>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Actions change the environment; observations determine the next action.</a:t>
            </a:r>
          </a:p>
        </p:txBody>
      </p:sp>
      <p:sp>
        <p:nvSpPr>
          <p:cNvPr id="3" name="">
            <a:extLst xmlns:a="http://schemas.openxmlformats.org/drawingml/2006/main">
              <a:ext uri="{FF2B5EF4-FFF2-40B4-BE49-F238E27FC236}">
                <a16:creationId xmlns:a16="http://schemas.microsoft.com/office/drawing/2014/main" id="{4795BF5D-5981-4CFA-B5AD-C94F8FA03972}"/>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03</a:t>
            </a:r>
          </a:p>
        </p:txBody>
      </p:sp>
      <p:sp>
        <p:nvSpPr>
          <p:cNvPr id="4" name="">
            <a:extLst xmlns:a="http://schemas.openxmlformats.org/drawingml/2006/main">
              <a:ext uri="{FF2B5EF4-FFF2-40B4-BE49-F238E27FC236}">
                <a16:creationId xmlns:a16="http://schemas.microsoft.com/office/drawing/2014/main" id="{F25B595A-3536-4E61-AEB7-716D38F7975D}"/>
              </a:ext>
            </a:extLst>
          </p:cNvPr>
          <p:cNvSpPr>
            <a:spLocks xmlns:a="http://schemas.openxmlformats.org/drawingml/2006/main" noGrp="1"/>
          </p:cNvSpPr>
          <p:nvPr/>
        </p:nvSpPr>
        <p:spPr>
          <a:xfrm xmlns:a="http://schemas.openxmlformats.org/drawingml/2006/main" rot="3693">
            <a:off x="619125" y="2438400"/>
            <a:ext cx="2333625" cy="1000125"/>
          </a:xfrm>
          <a:prstGeom xmlns:a="http://schemas.openxmlformats.org/drawingml/2006/main" prst="rect">
            <a:avLst/>
          </a:prstGeom>
          <a:solidFill xmlns:a="http://schemas.openxmlformats.org/drawingml/2006/main">
            <a:srgbClr val="FCEFC7"/>
          </a:solidFill>
          <a:ln xmlns:a="http://schemas.openxmlformats.org/drawingml/2006/main" w="22225">
            <a:solidFill>
              <a:srgbClr val="C89212"/>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Observe</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shortage</a:t>
            </a:r>
          </a:p>
        </p:txBody>
      </p:sp>
      <p:sp>
        <p:nvSpPr>
          <p:cNvPr id="5" name="">
            <a:extLst xmlns:a="http://schemas.openxmlformats.org/drawingml/2006/main">
              <a:ext uri="{FF2B5EF4-FFF2-40B4-BE49-F238E27FC236}">
                <a16:creationId xmlns:a16="http://schemas.microsoft.com/office/drawing/2014/main" id="{FEF2B006-CE36-41FB-A95A-374092322714}"/>
              </a:ext>
            </a:extLst>
          </p:cNvPr>
          <p:cNvSpPr>
            <a:spLocks xmlns:a="http://schemas.openxmlformats.org/drawingml/2006/main" noGrp="1"/>
          </p:cNvSpPr>
          <p:nvPr/>
        </p:nvSpPr>
        <p:spPr>
          <a:xfrm xmlns:a="http://schemas.openxmlformats.org/drawingml/2006/main" rot="51524">
            <a:off x="3476625" y="2438400"/>
            <a:ext cx="2333625" cy="1000125"/>
          </a:xfrm>
          <a:prstGeom xmlns:a="http://schemas.openxmlformats.org/drawingml/2006/main" prst="rect">
            <a:avLst/>
          </a:prstGeom>
          <a:solidFill xmlns:a="http://schemas.openxmlformats.org/drawingml/2006/main">
            <a:srgbClr val="E7E0F5"/>
          </a:solidFill>
          <a:ln xmlns:a="http://schemas.openxmlformats.org/drawingml/2006/main" w="22225">
            <a:solidFill>
              <a:srgbClr val="6D4FA3"/>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Search</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allocations</a:t>
            </a:r>
          </a:p>
        </p:txBody>
      </p:sp>
      <p:sp>
        <p:nvSpPr>
          <p:cNvPr id="6" name="">
            <a:extLst xmlns:a="http://schemas.openxmlformats.org/drawingml/2006/main">
              <a:ext uri="{FF2B5EF4-FFF2-40B4-BE49-F238E27FC236}">
                <a16:creationId xmlns:a16="http://schemas.microsoft.com/office/drawing/2014/main" id="{A1AA291A-F69F-4B09-87CC-D1E414196C13}"/>
              </a:ext>
            </a:extLst>
          </p:cNvPr>
          <p:cNvSpPr>
            <a:spLocks xmlns:a="http://schemas.openxmlformats.org/drawingml/2006/main" noGrp="1"/>
          </p:cNvSpPr>
          <p:nvPr/>
        </p:nvSpPr>
        <p:spPr>
          <a:xfrm xmlns:a="http://schemas.openxmlformats.org/drawingml/2006/main" rot="77363">
            <a:off x="6334125" y="2438400"/>
            <a:ext cx="2333625" cy="1000125"/>
          </a:xfrm>
          <a:prstGeom xmlns:a="http://schemas.openxmlformats.org/drawingml/2006/main" prst="rect">
            <a:avLst/>
          </a:prstGeom>
          <a:solidFill xmlns:a="http://schemas.openxmlformats.org/drawingml/2006/main">
            <a:srgbClr val="DAE8F6"/>
          </a:solidFill>
          <a:ln xmlns:a="http://schemas.openxmlformats.org/drawingml/2006/main" w="22225">
            <a:solidFill>
              <a:srgbClr val="2E6FAE"/>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Commit</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reservations</a:t>
            </a:r>
          </a:p>
        </p:txBody>
      </p:sp>
      <p:sp>
        <p:nvSpPr>
          <p:cNvPr id="7" name="">
            <a:extLst xmlns:a="http://schemas.openxmlformats.org/drawingml/2006/main">
              <a:ext uri="{FF2B5EF4-FFF2-40B4-BE49-F238E27FC236}">
                <a16:creationId xmlns:a16="http://schemas.microsoft.com/office/drawing/2014/main" id="{02355794-6406-48DC-AC32-454A8CFED2A2}"/>
              </a:ext>
            </a:extLst>
          </p:cNvPr>
          <p:cNvSpPr>
            <a:spLocks xmlns:a="http://schemas.openxmlformats.org/drawingml/2006/main" noGrp="1"/>
          </p:cNvSpPr>
          <p:nvPr/>
        </p:nvSpPr>
        <p:spPr>
          <a:xfrm xmlns:a="http://schemas.openxmlformats.org/drawingml/2006/main" rot="21564657">
            <a:off x="9191625" y="2438400"/>
            <a:ext cx="2333625" cy="1000125"/>
          </a:xfrm>
          <a:prstGeom xmlns:a="http://schemas.openxmlformats.org/drawingml/2006/main" prst="rect">
            <a:avLst/>
          </a:prstGeom>
          <a:solidFill xmlns:a="http://schemas.openxmlformats.org/drawingml/2006/main">
            <a:srgbClr val="F8DCE9"/>
          </a:solidFill>
          <a:ln xmlns:a="http://schemas.openxmlformats.org/drawingml/2006/main" w="22225">
            <a:solidFill>
              <a:srgbClr val="C64C7D"/>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Verify</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state</a:t>
            </a:r>
          </a:p>
        </p:txBody>
      </p: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a:off x="2952750" y="2938463"/>
            <a:ext cx="523875" cy="0"/>
          </a:xfrm>
          <a:prstGeom xmlns:a="http://schemas.openxmlformats.org/drawingml/2006/main" prst="straightConnector1">
            <a:avLst/>
          </a:prstGeom>
          <a:ln xmlns:a="http://schemas.openxmlformats.org/drawingml/2006/main" w="28575">
            <a:solidFill>
              <a:srgbClr val="D6452C"/>
            </a:solidFill>
            <a:tailEnd type="triangle" w="med" len="med"/>
          </a:ln>
        </p:spPr>
      </p:cxnSp>
      <p:cxnSp>
        <p:nvCxnSpPr>
          <p:cNvPr id="21" name=""/>
          <p:cNvCxnSpPr>
            <a:stCxn xmlns:a="http://schemas.openxmlformats.org/drawingml/2006/main" id="5" idx="3"/>
            <a:endCxn xmlns:a="http://schemas.openxmlformats.org/drawingml/2006/main" id="6" idx="1"/>
          </p:cNvCxnSpPr>
          <p:nvPr/>
        </p:nvCxnSpPr>
        <p:spPr>
          <a:xfrm xmlns:a="http://schemas.openxmlformats.org/drawingml/2006/main">
            <a:off x="5810250" y="2938463"/>
            <a:ext cx="523875" cy="0"/>
          </a:xfrm>
          <a:prstGeom xmlns:a="http://schemas.openxmlformats.org/drawingml/2006/main" prst="straightConnector1">
            <a:avLst/>
          </a:prstGeom>
          <a:ln xmlns:a="http://schemas.openxmlformats.org/drawingml/2006/main" w="28575">
            <a:solidFill>
              <a:srgbClr val="D6452C"/>
            </a:solidFill>
            <a:tailEnd type="triangle" w="med" len="med"/>
          </a:ln>
        </p:spPr>
      </p:cxn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8667750" y="2938463"/>
            <a:ext cx="523875" cy="0"/>
          </a:xfrm>
          <a:prstGeom xmlns:a="http://schemas.openxmlformats.org/drawingml/2006/main" prst="straightConnector1">
            <a:avLst/>
          </a:prstGeom>
          <a:ln xmlns:a="http://schemas.openxmlformats.org/drawingml/2006/main" w="28575">
            <a:solidFill>
              <a:srgbClr val="D6452C"/>
            </a:solidFill>
            <a:tailEnd type="triangle" w="med" len="med"/>
          </a:ln>
        </p:spPr>
      </p:cxnSp>
      <p:sp>
        <p:nvSpPr>
          <p:cNvPr id="11" name="">
            <a:extLst xmlns:a="http://schemas.openxmlformats.org/drawingml/2006/main">
              <a:ext uri="{FF2B5EF4-FFF2-40B4-BE49-F238E27FC236}">
                <a16:creationId xmlns:a16="http://schemas.microsoft.com/office/drawing/2014/main" id="{AACA066D-C7B1-4B0D-9FE7-39142F4C10FD}"/>
              </a:ext>
            </a:extLst>
          </p:cNvPr>
          <p:cNvSpPr>
            <a:spLocks xmlns:a="http://schemas.openxmlformats.org/drawingml/2006/main" noGrp="1"/>
          </p:cNvSpPr>
          <p:nvPr/>
        </p:nvSpPr>
        <p:spPr>
          <a:xfrm xmlns:a="http://schemas.openxmlformats.org/drawingml/2006/main">
            <a:off x="6858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6452C"/>
                </a:solidFill>
                <a:latin typeface="Calibri"/>
                <a:ea typeface="Calibri"/>
                <a:cs typeface="Calibri"/>
              </a:defRPr>
            </a:pPr>
            <a:r>
              <a:rPr sz="2325" b="1">
                <a:solidFill>
                  <a:srgbClr val="D6452C"/>
                </a:solidFill>
                <a:latin typeface="Calibri"/>
                <a:ea typeface="Calibri"/>
                <a:cs typeface="Calibri"/>
              </a:rPr>
              <a:t>Tool rejection or changed conditions → refresh state → replan</a:t>
            </a:r>
          </a:p>
        </p:txBody>
      </p:sp>
      <p:sp>
        <p:nvSpPr>
          <p:cNvPr id="12" name="">
            <a:extLst xmlns:a="http://schemas.openxmlformats.org/drawingml/2006/main">
              <a:ext uri="{FF2B5EF4-FFF2-40B4-BE49-F238E27FC236}">
                <a16:creationId xmlns:a16="http://schemas.microsoft.com/office/drawing/2014/main" id="{9624EF72-1845-4B83-B4BE-1CDFF4B1AC14}"/>
              </a:ext>
            </a:extLst>
          </p:cNvPr>
          <p:cNvSpPr>
            <a:spLocks xmlns:a="http://schemas.openxmlformats.org/drawingml/2006/main" noGrp="1"/>
          </p:cNvSpPr>
          <p:nvPr/>
        </p:nvSpPr>
        <p:spPr>
          <a:xfrm xmlns:a="http://schemas.openxmlformats.org/drawingml/2006/main">
            <a:off x="685800" y="506730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E6455"/>
                </a:solidFill>
                <a:latin typeface="Calibri"/>
                <a:ea typeface="Calibri"/>
                <a:cs typeface="Calibri"/>
              </a:defRPr>
            </a:pPr>
            <a:r>
              <a:rPr sz="2025" b="0">
                <a:solidFill>
                  <a:srgbClr val="6E6455"/>
                </a:solidFill>
                <a:latin typeface="Calibri"/>
                <a:ea typeface="Calibri"/>
                <a:cs typeface="Calibri"/>
              </a:rPr>
              <a:t>Persistent memory: goal, catalog revision, orders, ledger, receipts and event history.</a:t>
            </a:r>
          </a:p>
        </p:txBody>
      </p:sp>
      <p:sp xmlns:a="http://schemas.openxmlformats.org/drawingml/2006/main">
        <p:nvSpPr>
          <p:cNvPr id="23" name="Rectangle 22"/>
          <p:cNvSpPr/>
          <p:nvPr/>
        </p:nvSpPr>
        <p:spPr>
          <a:xfrm rot="21522000">
            <a:off x="639600" y="1067200"/>
            <a:ext cx="5200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4" name="Rectangle 23"/>
          <p:cNvSpPr/>
          <p:nvPr/>
        </p:nvSpPr>
        <p:spPr>
          <a:xfrm>
            <a:off x="0" y="6698000"/>
            <a:ext cx="12192000" cy="160000"/>
          </a:xfrm>
          <a:prstGeom prst="rect">
            <a:avLst/>
          </a:prstGeom>
          <a:solidFill>
            <a:srgbClr val="C89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144430655"/>
      </p:ext>
    </p:extLst>
  </p:cSld>
</p:sld>
</file>

<file path=ppt/slides/slide4.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3691CCF-8F08-47F0-8CC2-BC612A73C8DF}"/>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System architecture</a:t>
            </a:r>
          </a:p>
        </p:txBody>
      </p:sp>
      <p:sp>
        <p:nvSpPr>
          <p:cNvPr id="2" name="">
            <a:extLst xmlns:a="http://schemas.openxmlformats.org/drawingml/2006/main">
              <a:ext uri="{FF2B5EF4-FFF2-40B4-BE49-F238E27FC236}">
                <a16:creationId xmlns:a16="http://schemas.microsoft.com/office/drawing/2014/main" id="{18BB1E3F-60CE-402D-84E6-598E69F5FF74}"/>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Local tools and persistent state; no credentials or internet needed to run.</a:t>
            </a:r>
          </a:p>
        </p:txBody>
      </p:sp>
      <p:sp>
        <p:nvSpPr>
          <p:cNvPr id="3" name="">
            <a:extLst xmlns:a="http://schemas.openxmlformats.org/drawingml/2006/main">
              <a:ext uri="{FF2B5EF4-FFF2-40B4-BE49-F238E27FC236}">
                <a16:creationId xmlns:a16="http://schemas.microsoft.com/office/drawing/2014/main" id="{CC6BAC2E-DC4C-470F-A09F-13CDFE0A3383}"/>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04</a:t>
            </a:r>
          </a:p>
        </p:txBody>
      </p:sp>
      <p:sp>
        <p:nvSpPr>
          <p:cNvPr id="4" name="">
            <a:extLst xmlns:a="http://schemas.openxmlformats.org/drawingml/2006/main">
              <a:ext uri="{FF2B5EF4-FFF2-40B4-BE49-F238E27FC236}">
                <a16:creationId xmlns:a16="http://schemas.microsoft.com/office/drawing/2014/main" id="{2609E7D6-F3A2-4E42-BB96-659D279EF4AD}"/>
              </a:ext>
            </a:extLst>
          </p:cNvPr>
          <p:cNvSpPr>
            <a:spLocks xmlns:a="http://schemas.openxmlformats.org/drawingml/2006/main" noGrp="1"/>
          </p:cNvSpPr>
          <p:nvPr/>
        </p:nvSpPr>
        <p:spPr>
          <a:xfrm xmlns:a="http://schemas.openxmlformats.org/drawingml/2006/main" rot="44706">
            <a:off x="628650" y="2076450"/>
            <a:ext cx="2381250" cy="742950"/>
          </a:xfrm>
          <a:prstGeom xmlns:a="http://schemas.openxmlformats.org/drawingml/2006/main" prst="rect">
            <a:avLst/>
          </a:prstGeom>
          <a:solidFill xmlns:a="http://schemas.openxmlformats.org/drawingml/2006/main">
            <a:srgbClr val="E7E0F5"/>
          </a:solidFill>
          <a:ln xmlns:a="http://schemas.openxmlformats.org/drawingml/2006/main" w="22225">
            <a:solidFill>
              <a:srgbClr val="6D4FA3"/>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Operator + browser</a:t>
            </a:r>
          </a:p>
        </p:txBody>
      </p:sp>
      <p:sp>
        <p:nvSpPr>
          <p:cNvPr id="5" name="">
            <a:extLst xmlns:a="http://schemas.openxmlformats.org/drawingml/2006/main">
              <a:ext uri="{FF2B5EF4-FFF2-40B4-BE49-F238E27FC236}">
                <a16:creationId xmlns:a16="http://schemas.microsoft.com/office/drawing/2014/main" id="{E54A3AD0-DEBF-44B1-B55A-1030701022C4}"/>
              </a:ext>
            </a:extLst>
          </p:cNvPr>
          <p:cNvSpPr>
            <a:spLocks xmlns:a="http://schemas.openxmlformats.org/drawingml/2006/main" noGrp="1"/>
          </p:cNvSpPr>
          <p:nvPr/>
        </p:nvSpPr>
        <p:spPr>
          <a:xfrm xmlns:a="http://schemas.openxmlformats.org/drawingml/2006/main" rot="34309">
            <a:off x="3495675" y="2076450"/>
            <a:ext cx="2381250" cy="742950"/>
          </a:xfrm>
          <a:prstGeom xmlns:a="http://schemas.openxmlformats.org/drawingml/2006/main" prst="rect">
            <a:avLst/>
          </a:prstGeom>
          <a:solidFill xmlns:a="http://schemas.openxmlformats.org/drawingml/2006/main">
            <a:srgbClr val="DAE8F6"/>
          </a:solidFill>
          <a:ln xmlns:a="http://schemas.openxmlformats.org/drawingml/2006/main" w="22225">
            <a:solidFill>
              <a:srgbClr val="2E6FAE"/>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Goal controller</a:t>
            </a:r>
          </a:p>
        </p:txBody>
      </p:sp>
      <p:sp>
        <p:nvSpPr>
          <p:cNvPr id="6" name="">
            <a:extLst xmlns:a="http://schemas.openxmlformats.org/drawingml/2006/main">
              <a:ext uri="{FF2B5EF4-FFF2-40B4-BE49-F238E27FC236}">
                <a16:creationId xmlns:a16="http://schemas.microsoft.com/office/drawing/2014/main" id="{B8B3B5F2-BCA2-404A-A730-46B919E03792}"/>
              </a:ext>
            </a:extLst>
          </p:cNvPr>
          <p:cNvSpPr>
            <a:spLocks xmlns:a="http://schemas.openxmlformats.org/drawingml/2006/main" noGrp="1"/>
          </p:cNvSpPr>
          <p:nvPr/>
        </p:nvSpPr>
        <p:spPr>
          <a:xfrm xmlns:a="http://schemas.openxmlformats.org/drawingml/2006/main" rot="27112">
            <a:off x="9001125" y="2076450"/>
            <a:ext cx="2524125" cy="742950"/>
          </a:xfrm>
          <a:prstGeom xmlns:a="http://schemas.openxmlformats.org/drawingml/2006/main" prst="rect">
            <a:avLst/>
          </a:prstGeom>
          <a:solidFill xmlns:a="http://schemas.openxmlformats.org/drawingml/2006/main">
            <a:srgbClr val="F8DCE9"/>
          </a:solidFill>
          <a:ln xmlns:a="http://schemas.openxmlformats.org/drawingml/2006/main" w="22225">
            <a:solidFill>
              <a:srgbClr val="C64C7D"/>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SQLite state</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 event history</a:t>
            </a:r>
          </a:p>
        </p:txBody>
      </p: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3009900" y="2447925"/>
            <a:ext cx="485775" cy="0"/>
          </a:xfrm>
          <a:prstGeom xmlns:a="http://schemas.openxmlformats.org/drawingml/2006/main" prst="straightConnector1">
            <a:avLst/>
          </a:prstGeom>
          <a:ln xmlns:a="http://schemas.openxmlformats.org/drawingml/2006/main" w="28575">
            <a:solidFill>
              <a:srgbClr val="D6452C"/>
            </a:solidFill>
            <a:tailEnd type="triangle" w="med" len="med"/>
          </a:ln>
        </p:spPr>
      </p:cxnSp>
      <p:cxnSp>
        <p:nvCxnSpPr>
          <p:cNvPr id="25" name=""/>
          <p:cNvCxnSpPr>
            <a:stCxn xmlns:a="http://schemas.openxmlformats.org/drawingml/2006/main" id="5" idx="3"/>
            <a:endCxn xmlns:a="http://schemas.openxmlformats.org/drawingml/2006/main" id="6" idx="1"/>
          </p:cNvCxnSpPr>
          <p:nvPr/>
        </p:nvCxnSpPr>
        <p:spPr>
          <a:xfrm xmlns:a="http://schemas.openxmlformats.org/drawingml/2006/main">
            <a:off x="5876925" y="2447925"/>
            <a:ext cx="3124200" cy="0"/>
          </a:xfrm>
          <a:prstGeom xmlns:a="http://schemas.openxmlformats.org/drawingml/2006/main" prst="straightConnector1">
            <a:avLst/>
          </a:prstGeom>
          <a:ln xmlns:a="http://schemas.openxmlformats.org/drawingml/2006/main" w="28575">
            <a:solidFill>
              <a:srgbClr val="D6452C"/>
            </a:solidFill>
            <a:tailEnd type="triangle" w="med" len="med"/>
          </a:ln>
        </p:spPr>
      </p:cxnSp>
      <p:sp>
        <p:nvSpPr>
          <p:cNvPr id="9" name="">
            <a:extLst xmlns:a="http://schemas.openxmlformats.org/drawingml/2006/main">
              <a:ext uri="{FF2B5EF4-FFF2-40B4-BE49-F238E27FC236}">
                <a16:creationId xmlns:a16="http://schemas.microsoft.com/office/drawing/2014/main" id="{102C9BEA-837F-4A11-9B0B-8D3BDAB501C8}"/>
              </a:ext>
            </a:extLst>
          </p:cNvPr>
          <p:cNvSpPr>
            <a:spLocks xmlns:a="http://schemas.openxmlformats.org/drawingml/2006/main" noGrp="1"/>
          </p:cNvSpPr>
          <p:nvPr/>
        </p:nvSpPr>
        <p:spPr>
          <a:xfrm xmlns:a="http://schemas.openxmlformats.org/drawingml/2006/main" rot="21534507">
            <a:off x="628650" y="3952875"/>
            <a:ext cx="2381250" cy="857250"/>
          </a:xfrm>
          <a:prstGeom xmlns:a="http://schemas.openxmlformats.org/drawingml/2006/main" prst="rect">
            <a:avLst/>
          </a:prstGeom>
          <a:solidFill xmlns:a="http://schemas.openxmlformats.org/drawingml/2006/main">
            <a:srgbClr val="FBE2D8"/>
          </a:solidFill>
          <a:ln xmlns:a="http://schemas.openxmlformats.org/drawingml/2006/main" w="22225">
            <a:solidFill>
              <a:srgbClr val="D6452C"/>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Inventory +</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route lookup</a:t>
            </a:r>
          </a:p>
        </p:txBody>
      </p:sp>
      <p:sp>
        <p:nvSpPr>
          <p:cNvPr id="10" name="">
            <a:extLst xmlns:a="http://schemas.openxmlformats.org/drawingml/2006/main">
              <a:ext uri="{FF2B5EF4-FFF2-40B4-BE49-F238E27FC236}">
                <a16:creationId xmlns:a16="http://schemas.microsoft.com/office/drawing/2014/main" id="{21E7F9F0-4BDF-4156-9343-45B2CD778894}"/>
              </a:ext>
            </a:extLst>
          </p:cNvPr>
          <p:cNvSpPr>
            <a:spLocks xmlns:a="http://schemas.openxmlformats.org/drawingml/2006/main" noGrp="1"/>
          </p:cNvSpPr>
          <p:nvPr/>
        </p:nvSpPr>
        <p:spPr>
          <a:xfrm xmlns:a="http://schemas.openxmlformats.org/drawingml/2006/main" rot="21520525">
            <a:off x="3495675" y="3952875"/>
            <a:ext cx="2381250" cy="857250"/>
          </a:xfrm>
          <a:prstGeom xmlns:a="http://schemas.openxmlformats.org/drawingml/2006/main" prst="rect">
            <a:avLst/>
          </a:prstGeom>
          <a:solidFill xmlns:a="http://schemas.openxmlformats.org/drawingml/2006/main">
            <a:srgbClr val="D7EFE7"/>
          </a:solidFill>
          <a:ln xmlns:a="http://schemas.openxmlformats.org/drawingml/2006/main" w="22225">
            <a:solidFill>
              <a:srgbClr val="0E8A78"/>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Exact allocation</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optimizer</a:t>
            </a:r>
          </a:p>
        </p:txBody>
      </p:sp>
      <p:sp>
        <p:nvSpPr>
          <p:cNvPr id="11" name="">
            <a:extLst xmlns:a="http://schemas.openxmlformats.org/drawingml/2006/main">
              <a:ext uri="{FF2B5EF4-FFF2-40B4-BE49-F238E27FC236}">
                <a16:creationId xmlns:a16="http://schemas.microsoft.com/office/drawing/2014/main" id="{D1E3452F-522B-48AE-BF3A-7EF43B39996C}"/>
              </a:ext>
            </a:extLst>
          </p:cNvPr>
          <p:cNvSpPr>
            <a:spLocks xmlns:a="http://schemas.openxmlformats.org/drawingml/2006/main" noGrp="1"/>
          </p:cNvSpPr>
          <p:nvPr/>
        </p:nvSpPr>
        <p:spPr>
          <a:xfrm xmlns:a="http://schemas.openxmlformats.org/drawingml/2006/main" rot="21580541">
            <a:off x="6343650" y="3952875"/>
            <a:ext cx="2381250" cy="857250"/>
          </a:xfrm>
          <a:prstGeom xmlns:a="http://schemas.openxmlformats.org/drawingml/2006/main" prst="rect">
            <a:avLst/>
          </a:prstGeom>
          <a:solidFill xmlns:a="http://schemas.openxmlformats.org/drawingml/2006/main">
            <a:srgbClr val="FCEFC7"/>
          </a:solidFill>
          <a:ln xmlns:a="http://schemas.openxmlformats.org/drawingml/2006/main" w="22225">
            <a:solidFill>
              <a:srgbClr val="C89212"/>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Atomic commit</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 cancellation</a:t>
            </a:r>
          </a:p>
        </p:txBody>
      </p:sp>
      <p:sp>
        <p:nvSpPr>
          <p:cNvPr id="12" name="">
            <a:extLst xmlns:a="http://schemas.openxmlformats.org/drawingml/2006/main">
              <a:ext uri="{FF2B5EF4-FFF2-40B4-BE49-F238E27FC236}">
                <a16:creationId xmlns:a16="http://schemas.microsoft.com/office/drawing/2014/main" id="{065CA170-3ADA-4EAA-9299-C235887E98B9}"/>
              </a:ext>
            </a:extLst>
          </p:cNvPr>
          <p:cNvSpPr>
            <a:spLocks xmlns:a="http://schemas.openxmlformats.org/drawingml/2006/main" noGrp="1"/>
          </p:cNvSpPr>
          <p:nvPr/>
        </p:nvSpPr>
        <p:spPr>
          <a:xfrm xmlns:a="http://schemas.openxmlformats.org/drawingml/2006/main" rot="41394">
            <a:off x="9191625" y="3952875"/>
            <a:ext cx="2333625" cy="857250"/>
          </a:xfrm>
          <a:prstGeom xmlns:a="http://schemas.openxmlformats.org/drawingml/2006/main" prst="rect">
            <a:avLst/>
          </a:prstGeom>
          <a:solidFill xmlns:a="http://schemas.openxmlformats.org/drawingml/2006/main">
            <a:srgbClr val="E7E0F5"/>
          </a:solidFill>
          <a:ln xmlns:a="http://schemas.openxmlformats.org/drawingml/2006/main" w="22225">
            <a:solidFill>
              <a:srgbClr val="6D4FA3"/>
            </a:solidFill>
          </a:ln>
        </p:spPr>
        <p:txBody>
          <a:bodyPr xmlns:a="http://schemas.openxmlformats.org/drawingml/2006/main" anchor="ctr"/>
          <a:lstStyle xmlns:a="http://schemas.openxmlformats.org/drawingml/2006/main"/>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Independent</a:t>
            </a:r>
          </a:p>
          <a:p xmlns:a="http://schemas.openxmlformats.org/drawingml/2006/main">
            <a:pPr algn="ctr">
              <a:defRPr sz="1800">
                <a:solidFill>
                  <a:srgbClr val="322B24"/>
                </a:solidFill>
                <a:latin typeface="Calibri"/>
                <a:ea typeface="Calibri"/>
                <a:cs typeface="Calibri"/>
              </a:defRPr>
            </a:pPr>
            <a:r>
              <a:rPr sz="1800">
                <a:solidFill>
                  <a:srgbClr val="322B24"/>
                </a:solidFill>
                <a:latin typeface="Calibri"/>
                <a:ea typeface="Calibri"/>
                <a:cs typeface="Calibri"/>
              </a:rPr>
              <a:t>state verifier</a:t>
            </a:r>
          </a:p>
        </p:txBody>
      </p:sp>
      <p:cxnSp>
        <p:nvCxnSpPr>
          <p:cNvPr id="30" name=""/>
          <p:cNvCxnSpPr>
            <a:stCxn xmlns:a="http://schemas.openxmlformats.org/drawingml/2006/main" id="5" idx="2"/>
            <a:endCxn xmlns:a="http://schemas.openxmlformats.org/drawingml/2006/main" id="10" idx="0"/>
          </p:cNvCxnSpPr>
          <p:nvPr/>
        </p:nvCxnSpPr>
        <p:spPr>
          <a:xfrm xmlns:a="http://schemas.openxmlformats.org/drawingml/2006/main">
            <a:off x="4686300" y="2819400"/>
            <a:ext cx="0" cy="1133475"/>
          </a:xfrm>
          <a:prstGeom xmlns:a="http://schemas.openxmlformats.org/drawingml/2006/main" prst="straightConnector1">
            <a:avLst/>
          </a:prstGeom>
          <a:ln xmlns:a="http://schemas.openxmlformats.org/drawingml/2006/main" w="28575">
            <a:solidFill>
              <a:srgbClr val="2E6FAE"/>
            </a:solidFill>
            <a:tailEnd type="triangle" w="med" len="med"/>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3009900" y="4381500"/>
            <a:ext cx="485775" cy="0"/>
          </a:xfrm>
          <a:prstGeom xmlns:a="http://schemas.openxmlformats.org/drawingml/2006/main" prst="straightConnector1">
            <a:avLst/>
          </a:prstGeom>
          <a:ln xmlns:a="http://schemas.openxmlformats.org/drawingml/2006/main" w="28575">
            <a:solidFill>
              <a:srgbClr val="2E6FAE"/>
            </a:solidFill>
            <a:tailEnd type="triangle" w="med" len="med"/>
          </a:ln>
        </p:spPr>
      </p:cxnSp>
      <p:cxnSp>
        <p:nvCxnSpPr>
          <p:cNvPr id="32" name=""/>
          <p:cNvCxnSpPr>
            <a:stCxn xmlns:a="http://schemas.openxmlformats.org/drawingml/2006/main" id="10" idx="3"/>
            <a:endCxn xmlns:a="http://schemas.openxmlformats.org/drawingml/2006/main" id="11" idx="1"/>
          </p:cNvCxnSpPr>
          <p:nvPr/>
        </p:nvCxnSpPr>
        <p:spPr>
          <a:xfrm xmlns:a="http://schemas.openxmlformats.org/drawingml/2006/main">
            <a:off x="5876925" y="4381500"/>
            <a:ext cx="466725" cy="0"/>
          </a:xfrm>
          <a:prstGeom xmlns:a="http://schemas.openxmlformats.org/drawingml/2006/main" prst="straightConnector1">
            <a:avLst/>
          </a:prstGeom>
          <a:ln xmlns:a="http://schemas.openxmlformats.org/drawingml/2006/main" w="28575">
            <a:solidFill>
              <a:srgbClr val="2E6FAE"/>
            </a:solidFill>
            <a:tailEnd type="triangle" w="med" len="med"/>
          </a:ln>
        </p:spPr>
      </p:cxnSp>
      <p:cxnSp>
        <p:nvCxnSpPr>
          <p:cNvPr id="33" name=""/>
          <p:cNvCxnSpPr>
            <a:stCxn xmlns:a="http://schemas.openxmlformats.org/drawingml/2006/main" id="11" idx="3"/>
            <a:endCxn xmlns:a="http://schemas.openxmlformats.org/drawingml/2006/main" id="12" idx="1"/>
          </p:cNvCxnSpPr>
          <p:nvPr/>
        </p:nvCxnSpPr>
        <p:spPr>
          <a:xfrm xmlns:a="http://schemas.openxmlformats.org/drawingml/2006/main">
            <a:off x="8724900" y="4381500"/>
            <a:ext cx="466725" cy="0"/>
          </a:xfrm>
          <a:prstGeom xmlns:a="http://schemas.openxmlformats.org/drawingml/2006/main" prst="straightConnector1">
            <a:avLst/>
          </a:prstGeom>
          <a:ln xmlns:a="http://schemas.openxmlformats.org/drawingml/2006/main" w="28575">
            <a:solidFill>
              <a:srgbClr val="2E6FAE"/>
            </a:solidFill>
            <a:tailEnd type="triangle" w="med" len="med"/>
          </a:ln>
        </p:spPr>
      </p:cxnSp>
      <p:sp>
        <p:nvSpPr>
          <p:cNvPr id="17" name="">
            <a:extLst xmlns:a="http://schemas.openxmlformats.org/drawingml/2006/main">
              <a:ext uri="{FF2B5EF4-FFF2-40B4-BE49-F238E27FC236}">
                <a16:creationId xmlns:a16="http://schemas.microsoft.com/office/drawing/2014/main" id="{C3900878-DAED-47F6-BE84-CC2310AA5EBC}"/>
              </a:ext>
            </a:extLst>
          </p:cNvPr>
          <p:cNvSpPr>
            <a:spLocks xmlns:a="http://schemas.openxmlformats.org/drawingml/2006/main" noGrp="1"/>
          </p:cNvSpPr>
          <p:nvPr/>
        </p:nvSpPr>
        <p:spPr>
          <a:xfrm xmlns:a="http://schemas.openxmlformats.org/drawingml/2006/main">
            <a:off x="647700" y="538162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6E6455"/>
                </a:solidFill>
                <a:latin typeface="Calibri"/>
                <a:ea typeface="Calibri"/>
                <a:cs typeface="Calibri"/>
              </a:defRPr>
            </a:pPr>
            <a:r>
              <a:rPr sz="1950" b="0">
                <a:solidFill>
                  <a:srgbClr val="6E6455"/>
                </a:solidFill>
                <a:latin typeface="Calibri"/>
                <a:ea typeface="Calibri"/>
                <a:cs typeface="Calibri"/>
              </a:rPr>
              <a:t>Failure feedback returns to the controller; unresolved cases go to operator review.</a:t>
            </a:r>
          </a:p>
        </p:txBody>
      </p:sp>
      <p:sp xmlns:a="http://schemas.openxmlformats.org/drawingml/2006/main">
        <p:nvSpPr>
          <p:cNvPr id="34" name="Rectangle 33"/>
          <p:cNvSpPr/>
          <p:nvPr/>
        </p:nvSpPr>
        <p:spPr>
          <a:xfrm rot="21522000">
            <a:off x="639600" y="1067200"/>
            <a:ext cx="3895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5" name="Rectangle 34"/>
          <p:cNvSpPr/>
          <p:nvPr/>
        </p:nvSpPr>
        <p:spPr>
          <a:xfrm>
            <a:off x="0" y="6698000"/>
            <a:ext cx="12192000" cy="160000"/>
          </a:xfrm>
          <a:prstGeom prst="rect">
            <a:avLst/>
          </a:prstGeom>
          <a:solidFill>
            <a:srgbClr val="6D4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660134843"/>
      </p:ext>
    </p:extLst>
  </p:cSld>
</p:sld>
</file>

<file path=ppt/slides/slide5.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FD8424-3923-4523-97B5-A59B503A0644}"/>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Two disruptions, three computed plans</a:t>
            </a:r>
          </a:p>
        </p:txBody>
      </p:sp>
      <p:sp>
        <p:nvSpPr>
          <p:cNvPr id="2" name="">
            <a:extLst xmlns:a="http://schemas.openxmlformats.org/drawingml/2006/main">
              <a:ext uri="{FF2B5EF4-FFF2-40B4-BE49-F238E27FC236}">
                <a16:creationId xmlns:a16="http://schemas.microsoft.com/office/drawing/2014/main" id="{4D067546-17A2-4BAC-BE22-519666445B95}"/>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The agent preserves valid reservations and replans only the remaining shortage.</a:t>
            </a:r>
          </a:p>
        </p:txBody>
      </p:sp>
      <p:sp>
        <p:nvSpPr>
          <p:cNvPr id="3" name="">
            <a:extLst xmlns:a="http://schemas.openxmlformats.org/drawingml/2006/main">
              <a:ext uri="{FF2B5EF4-FFF2-40B4-BE49-F238E27FC236}">
                <a16:creationId xmlns:a16="http://schemas.microsoft.com/office/drawing/2014/main" id="{3EEF97CA-FA01-4193-A199-6C95C8CCD056}"/>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05</a:t>
            </a:r>
          </a:p>
        </p:txBody>
      </p:sp>
      <p:sp>
        <p:nvSpPr>
          <p:cNvPr id="4" name="">
            <a:extLst xmlns:a="http://schemas.openxmlformats.org/drawingml/2006/main">
              <a:ext uri="{FF2B5EF4-FFF2-40B4-BE49-F238E27FC236}">
                <a16:creationId xmlns:a16="http://schemas.microsoft.com/office/drawing/2014/main" id="{5B8F4E23-04DE-4F04-9090-54AE0E0C58E6}"/>
              </a:ext>
            </a:extLst>
          </p:cNvPr>
          <p:cNvSpPr>
            <a:spLocks xmlns:a="http://schemas.openxmlformats.org/drawingml/2006/main" noGrp="1"/>
          </p:cNvSpPr>
          <p:nvPr/>
        </p:nvSpPr>
        <p:spPr>
          <a:xfrm xmlns:a="http://schemas.openxmlformats.org/drawingml/2006/main">
            <a:off x="666750" y="20955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322B24"/>
                </a:solidFill>
                <a:latin typeface="Calibri"/>
                <a:ea typeface="Calibri"/>
                <a:cs typeface="Calibri"/>
              </a:defRPr>
            </a:pPr>
            <a:r>
              <a:rPr sz="2025" b="1">
                <a:solidFill>
                  <a:srgbClr val="322B24"/>
                </a:solidFill>
                <a:latin typeface="Calibri"/>
                <a:ea typeface="Calibri"/>
                <a:cs typeface="Calibri"/>
              </a:rPr>
              <a:t>Initial plan</a:t>
            </a:r>
          </a:p>
        </p:txBody>
      </p:sp>
      <p:sp>
        <p:nvSpPr>
          <p:cNvPr id="5" name="">
            <a:extLst xmlns:a="http://schemas.openxmlformats.org/drawingml/2006/main">
              <a:ext uri="{FF2B5EF4-FFF2-40B4-BE49-F238E27FC236}">
                <a16:creationId xmlns:a16="http://schemas.microsoft.com/office/drawing/2014/main" id="{20FFFE58-E7EE-458F-B56F-3774EBC7560C}"/>
              </a:ext>
            </a:extLst>
          </p:cNvPr>
          <p:cNvSpPr>
            <a:spLocks xmlns:a="http://schemas.openxmlformats.org/drawingml/2006/main" noGrp="1"/>
          </p:cNvSpPr>
          <p:nvPr/>
        </p:nvSpPr>
        <p:spPr>
          <a:xfrm xmlns:a="http://schemas.openxmlformats.org/drawingml/2006/main">
            <a:off x="3143250" y="209550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Cuttack: 100 units</a:t>
            </a:r>
          </a:p>
        </p:txBody>
      </p:sp>
      <p:sp>
        <p:nvSpPr>
          <p:cNvPr id="6" name="">
            <a:extLst xmlns:a="http://schemas.openxmlformats.org/drawingml/2006/main">
              <a:ext uri="{FF2B5EF4-FFF2-40B4-BE49-F238E27FC236}">
                <a16:creationId xmlns:a16="http://schemas.microsoft.com/office/drawing/2014/main" id="{B73F7FC8-B05F-493A-86ED-4C6B9A02D46F}"/>
              </a:ext>
            </a:extLst>
          </p:cNvPr>
          <p:cNvSpPr>
            <a:spLocks xmlns:a="http://schemas.openxmlformats.org/drawingml/2006/main" noGrp="1"/>
          </p:cNvSpPr>
          <p:nvPr/>
        </p:nvSpPr>
        <p:spPr>
          <a:xfrm xmlns:a="http://schemas.openxmlformats.org/drawingml/2006/main">
            <a:off x="3143250" y="256222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E6455"/>
                </a:solidFill>
                <a:latin typeface="Calibri"/>
                <a:ea typeface="Calibri"/>
                <a:cs typeface="Calibri"/>
              </a:defRPr>
            </a:pPr>
            <a:r>
              <a:rPr sz="1800" b="0">
                <a:solidFill>
                  <a:srgbClr val="6E6455"/>
                </a:solidFill>
                <a:latin typeface="Calibri"/>
                <a:ea typeface="Calibri"/>
                <a:cs typeface="Calibri"/>
              </a:rPr>
              <a:t>INR 9,000  ·  Rejected: supplier withdrawn</a:t>
            </a:r>
          </a:p>
        </p:txBody>
      </p:sp>
      <p:sp>
        <p:nvSpPr>
          <p:cNvPr id="7" name="">
            <a:extLst xmlns:a="http://schemas.openxmlformats.org/drawingml/2006/main">
              <a:ext uri="{FF2B5EF4-FFF2-40B4-BE49-F238E27FC236}">
                <a16:creationId xmlns:a16="http://schemas.microsoft.com/office/drawing/2014/main" id="{CD74B450-9492-4A42-AE3A-414E050D2805}"/>
              </a:ext>
            </a:extLst>
          </p:cNvPr>
          <p:cNvSpPr>
            <a:spLocks xmlns:a="http://schemas.openxmlformats.org/drawingml/2006/main" noGrp="1"/>
          </p:cNvSpPr>
          <p:nvPr/>
        </p:nvSpPr>
        <p:spPr>
          <a:xfrm xmlns:a="http://schemas.openxmlformats.org/drawingml/2006/main">
            <a:off x="666750" y="333375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322B24"/>
                </a:solidFill>
                <a:latin typeface="Calibri"/>
                <a:ea typeface="Calibri"/>
                <a:cs typeface="Calibri"/>
              </a:defRPr>
            </a:pPr>
            <a:r>
              <a:rPr sz="2025" b="1">
                <a:solidFill>
                  <a:srgbClr val="322B24"/>
                </a:solidFill>
                <a:latin typeface="Calibri"/>
                <a:ea typeface="Calibri"/>
                <a:cs typeface="Calibri"/>
              </a:rPr>
              <a:t>First recovery</a:t>
            </a:r>
          </a:p>
        </p:txBody>
      </p:sp>
      <p:sp>
        <p:nvSpPr>
          <p:cNvPr id="8" name="">
            <a:extLst xmlns:a="http://schemas.openxmlformats.org/drawingml/2006/main">
              <a:ext uri="{FF2B5EF4-FFF2-40B4-BE49-F238E27FC236}">
                <a16:creationId xmlns:a16="http://schemas.microsoft.com/office/drawing/2014/main" id="{3312F7CE-834E-48F7-8428-16BEF154D7CC}"/>
              </a:ext>
            </a:extLst>
          </p:cNvPr>
          <p:cNvSpPr>
            <a:spLocks xmlns:a="http://schemas.openxmlformats.org/drawingml/2006/main" noGrp="1"/>
          </p:cNvSpPr>
          <p:nvPr/>
        </p:nvSpPr>
        <p:spPr>
          <a:xfrm xmlns:a="http://schemas.openxmlformats.org/drawingml/2006/main">
            <a:off x="3143250" y="333375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Puri: 60  +  Khordha: 40</a:t>
            </a:r>
          </a:p>
        </p:txBody>
      </p:sp>
      <p:sp>
        <p:nvSpPr>
          <p:cNvPr id="9" name="">
            <a:extLst xmlns:a="http://schemas.openxmlformats.org/drawingml/2006/main">
              <a:ext uri="{FF2B5EF4-FFF2-40B4-BE49-F238E27FC236}">
                <a16:creationId xmlns:a16="http://schemas.microsoft.com/office/drawing/2014/main" id="{F25CD6BA-4912-4821-A109-E583B606F9D6}"/>
              </a:ext>
            </a:extLst>
          </p:cNvPr>
          <p:cNvSpPr>
            <a:spLocks xmlns:a="http://schemas.openxmlformats.org/drawingml/2006/main" noGrp="1"/>
          </p:cNvSpPr>
          <p:nvPr/>
        </p:nvSpPr>
        <p:spPr>
          <a:xfrm xmlns:a="http://schemas.openxmlformats.org/drawingml/2006/main">
            <a:off x="3143250" y="380047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E6455"/>
                </a:solidFill>
                <a:latin typeface="Calibri"/>
                <a:ea typeface="Calibri"/>
                <a:cs typeface="Calibri"/>
              </a:defRPr>
            </a:pPr>
            <a:r>
              <a:rPr sz="1800" b="0">
                <a:solidFill>
                  <a:srgbClr val="6E6455"/>
                </a:solidFill>
                <a:latin typeface="Calibri"/>
                <a:ea typeface="Calibri"/>
                <a:cs typeface="Calibri"/>
              </a:rPr>
              <a:t>INR 10,600  ·  Committed, then Puri closes</a:t>
            </a:r>
          </a:p>
        </p:txBody>
      </p:sp>
      <p:sp>
        <p:nvSpPr>
          <p:cNvPr id="10" name="">
            <a:extLst xmlns:a="http://schemas.openxmlformats.org/drawingml/2006/main">
              <a:ext uri="{FF2B5EF4-FFF2-40B4-BE49-F238E27FC236}">
                <a16:creationId xmlns:a16="http://schemas.microsoft.com/office/drawing/2014/main" id="{4429F6D8-38DF-4170-B9FD-E1EB34D651A2}"/>
              </a:ext>
            </a:extLst>
          </p:cNvPr>
          <p:cNvSpPr>
            <a:spLocks xmlns:a="http://schemas.openxmlformats.org/drawingml/2006/main" noGrp="1"/>
          </p:cNvSpPr>
          <p:nvPr/>
        </p:nvSpPr>
        <p:spPr>
          <a:xfrm xmlns:a="http://schemas.openxmlformats.org/drawingml/2006/main">
            <a:off x="666750" y="45720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E8A78"/>
                </a:solidFill>
                <a:latin typeface="Calibri"/>
                <a:ea typeface="Calibri"/>
                <a:cs typeface="Calibri"/>
              </a:defRPr>
            </a:pPr>
            <a:r>
              <a:rPr sz="2025" b="1">
                <a:solidFill>
                  <a:srgbClr val="0E8A78"/>
                </a:solidFill>
                <a:latin typeface="Calibri"/>
                <a:ea typeface="Calibri"/>
                <a:cs typeface="Calibri"/>
              </a:rPr>
              <a:t>Final recovery</a:t>
            </a:r>
          </a:p>
        </p:txBody>
      </p:sp>
      <p:sp>
        <p:nvSpPr>
          <p:cNvPr id="11" name="">
            <a:extLst xmlns:a="http://schemas.openxmlformats.org/drawingml/2006/main">
              <a:ext uri="{FF2B5EF4-FFF2-40B4-BE49-F238E27FC236}">
                <a16:creationId xmlns:a16="http://schemas.microsoft.com/office/drawing/2014/main" id="{50131F0B-6463-485A-8517-339423275E81}"/>
              </a:ext>
            </a:extLst>
          </p:cNvPr>
          <p:cNvSpPr>
            <a:spLocks xmlns:a="http://schemas.openxmlformats.org/drawingml/2006/main" noGrp="1"/>
          </p:cNvSpPr>
          <p:nvPr/>
        </p:nvSpPr>
        <p:spPr>
          <a:xfrm xmlns:a="http://schemas.openxmlformats.org/drawingml/2006/main">
            <a:off x="3143250" y="457200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Khordha: 80  +  Berhampur: 20</a:t>
            </a:r>
          </a:p>
        </p:txBody>
      </p:sp>
      <p:sp>
        <p:nvSpPr>
          <p:cNvPr id="12" name="">
            <a:extLst xmlns:a="http://schemas.openxmlformats.org/drawingml/2006/main">
              <a:ext uri="{FF2B5EF4-FFF2-40B4-BE49-F238E27FC236}">
                <a16:creationId xmlns:a16="http://schemas.microsoft.com/office/drawing/2014/main" id="{8412C2FE-DAD8-49FD-A856-65224908FB7F}"/>
              </a:ext>
            </a:extLst>
          </p:cNvPr>
          <p:cNvSpPr>
            <a:spLocks xmlns:a="http://schemas.openxmlformats.org/drawingml/2006/main" noGrp="1"/>
          </p:cNvSpPr>
          <p:nvPr/>
        </p:nvSpPr>
        <p:spPr>
          <a:xfrm xmlns:a="http://schemas.openxmlformats.org/drawingml/2006/main">
            <a:off x="3143250" y="503872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E6455"/>
                </a:solidFill>
                <a:latin typeface="Calibri"/>
                <a:ea typeface="Calibri"/>
                <a:cs typeface="Calibri"/>
              </a:defRPr>
            </a:pPr>
            <a:r>
              <a:rPr sz="1800" b="0">
                <a:solidFill>
                  <a:srgbClr val="6E6455"/>
                </a:solidFill>
                <a:latin typeface="Calibri"/>
                <a:ea typeface="Calibri"/>
                <a:cs typeface="Calibri"/>
              </a:rPr>
              <a:t>INR 11,700  ·  All constraints verified</a:t>
            </a:r>
          </a:p>
        </p:txBody>
      </p:sp>
      <p:sp xmlns:a="http://schemas.openxmlformats.org/drawingml/2006/main">
        <p:nvSpPr>
          <p:cNvPr id="14" name="Rectangle 13"/>
          <p:cNvSpPr/>
          <p:nvPr/>
        </p:nvSpPr>
        <p:spPr>
          <a:xfrm rot="21522000">
            <a:off x="639600" y="1067200"/>
            <a:ext cx="5200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Rectangle 14"/>
          <p:cNvSpPr/>
          <p:nvPr/>
        </p:nvSpPr>
        <p:spPr>
          <a:xfrm>
            <a:off x="0" y="6698000"/>
            <a:ext cx="12192000" cy="160000"/>
          </a:xfrm>
          <a:prstGeom prst="rect">
            <a:avLst/>
          </a:prstGeom>
          <a:solidFill>
            <a:srgbClr val="2E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045194429"/>
      </p:ext>
    </p:extLst>
  </p:cSld>
</p:sld>
</file>

<file path=ppt/slides/slide6.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0013EF-410D-4C0C-AF4C-0C9EAC60889E}"/>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Verified recovery</a:t>
            </a:r>
          </a:p>
        </p:txBody>
      </p:sp>
      <p:sp>
        <p:nvSpPr>
          <p:cNvPr id="2" name="">
            <a:extLst xmlns:a="http://schemas.openxmlformats.org/drawingml/2006/main">
              <a:ext uri="{FF2B5EF4-FFF2-40B4-BE49-F238E27FC236}">
                <a16:creationId xmlns:a16="http://schemas.microsoft.com/office/drawing/2014/main" id="{FDB34E7A-6CC3-4AD9-B17C-70E5C4F049A8}"/>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Independent checks use saved orders, inventory and ledger, rather than cached planner totals.</a:t>
            </a:r>
          </a:p>
        </p:txBody>
      </p:sp>
      <p:sp>
        <p:nvSpPr>
          <p:cNvPr id="3" name="">
            <a:extLst xmlns:a="http://schemas.openxmlformats.org/drawingml/2006/main">
              <a:ext uri="{FF2B5EF4-FFF2-40B4-BE49-F238E27FC236}">
                <a16:creationId xmlns:a16="http://schemas.microsoft.com/office/drawing/2014/main" id="{DF28DE67-CB04-4AC6-875C-03FD8146713A}"/>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06</a:t>
            </a:r>
          </a:p>
        </p:txBody>
      </p:sp>
      <p:sp>
        <p:nvSpPr>
          <p:cNvPr id="4" name="">
            <a:extLst xmlns:a="http://schemas.openxmlformats.org/drawingml/2006/main">
              <a:ext uri="{FF2B5EF4-FFF2-40B4-BE49-F238E27FC236}">
                <a16:creationId xmlns:a16="http://schemas.microsoft.com/office/drawing/2014/main" id="{7BEB94DE-71E4-4A73-B2B1-CB2B1D2185E8}"/>
              </a:ext>
            </a:extLst>
          </p:cNvPr>
          <p:cNvSpPr>
            <a:spLocks xmlns:a="http://schemas.openxmlformats.org/drawingml/2006/main" noGrp="1"/>
          </p:cNvSpPr>
          <p:nvPr/>
        </p:nvSpPr>
        <p:spPr>
          <a:xfrm xmlns:a="http://schemas.openxmlformats.org/drawingml/2006/main">
            <a:off x="638175" y="2238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C89212"/>
                </a:solidFill>
                <a:latin typeface="Trebuchet MS"/>
                <a:ea typeface="Trebuchet MS"/>
                <a:cs typeface="Trebuchet MS"/>
              </a:defRPr>
            </a:pPr>
            <a:r>
              <a:rPr sz="6600" b="1">
                <a:solidFill>
                  <a:srgbClr val="C89212"/>
                </a:solidFill>
                <a:latin typeface="Trebuchet MS"/>
                <a:ea typeface="Trebuchet MS"/>
                <a:cs typeface="Trebuchet MS"/>
              </a:rPr>
              <a:t>100</a:t>
            </a:r>
          </a:p>
        </p:txBody>
      </p:sp>
      <p:sp>
        <p:nvSpPr>
          <p:cNvPr id="5" name="">
            <a:extLst xmlns:a="http://schemas.openxmlformats.org/drawingml/2006/main">
              <a:ext uri="{FF2B5EF4-FFF2-40B4-BE49-F238E27FC236}">
                <a16:creationId xmlns:a16="http://schemas.microsoft.com/office/drawing/2014/main" id="{696E2632-A787-466B-9AB6-FEE119ABEF12}"/>
              </a:ext>
            </a:extLst>
          </p:cNvPr>
          <p:cNvSpPr>
            <a:spLocks xmlns:a="http://schemas.openxmlformats.org/drawingml/2006/main" noGrp="1"/>
          </p:cNvSpPr>
          <p:nvPr/>
        </p:nvSpPr>
        <p:spPr>
          <a:xfrm xmlns:a="http://schemas.openxmlformats.org/drawingml/2006/main">
            <a:off x="704850" y="3343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322B24"/>
                </a:solidFill>
                <a:latin typeface="Calibri"/>
                <a:ea typeface="Calibri"/>
                <a:cs typeface="Calibri"/>
              </a:defRPr>
            </a:pPr>
            <a:r>
              <a:rPr sz="2100" b="0">
                <a:solidFill>
                  <a:srgbClr val="322B24"/>
                </a:solidFill>
                <a:latin typeface="Calibri"/>
                <a:ea typeface="Calibri"/>
                <a:cs typeface="Calibri"/>
              </a:rPr>
              <a:t>recovery units</a:t>
            </a:r>
          </a:p>
        </p:txBody>
      </p:sp>
      <p:sp>
        <p:nvSpPr>
          <p:cNvPr id="6" name="">
            <a:extLst xmlns:a="http://schemas.openxmlformats.org/drawingml/2006/main">
              <a:ext uri="{FF2B5EF4-FFF2-40B4-BE49-F238E27FC236}">
                <a16:creationId xmlns:a16="http://schemas.microsoft.com/office/drawing/2014/main" id="{3ECCC527-CF2B-4C09-8204-93413CE2FED3}"/>
              </a:ext>
            </a:extLst>
          </p:cNvPr>
          <p:cNvSpPr>
            <a:spLocks xmlns:a="http://schemas.openxmlformats.org/drawingml/2006/main" noGrp="1"/>
          </p:cNvSpPr>
          <p:nvPr/>
        </p:nvSpPr>
        <p:spPr>
          <a:xfrm xmlns:a="http://schemas.openxmlformats.org/drawingml/2006/main">
            <a:off x="4686300" y="2409825"/>
            <a:ext cx="6381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322B24"/>
                </a:solidFill>
                <a:latin typeface="Trebuchet MS"/>
                <a:ea typeface="Trebuchet MS"/>
                <a:cs typeface="Trebuchet MS"/>
              </a:defRPr>
            </a:pPr>
            <a:r>
              <a:rPr sz="4350" b="1">
                <a:solidFill>
                  <a:srgbClr val="322B24"/>
                </a:solidFill>
                <a:latin typeface="Trebuchet MS"/>
                <a:ea typeface="Trebuchet MS"/>
                <a:cs typeface="Trebuchet MS"/>
              </a:rPr>
              <a:t>INR 11,700</a:t>
            </a:r>
          </a:p>
        </p:txBody>
      </p:sp>
      <p:sp>
        <p:nvSpPr>
          <p:cNvPr id="7" name="">
            <a:extLst xmlns:a="http://schemas.openxmlformats.org/drawingml/2006/main">
              <a:ext uri="{FF2B5EF4-FFF2-40B4-BE49-F238E27FC236}">
                <a16:creationId xmlns:a16="http://schemas.microsoft.com/office/drawing/2014/main" id="{393407B2-553A-4B5A-B072-D605E392D4B1}"/>
              </a:ext>
            </a:extLst>
          </p:cNvPr>
          <p:cNvSpPr>
            <a:spLocks xmlns:a="http://schemas.openxmlformats.org/drawingml/2006/main" noGrp="1"/>
          </p:cNvSpPr>
          <p:nvPr/>
        </p:nvSpPr>
        <p:spPr>
          <a:xfrm xmlns:a="http://schemas.openxmlformats.org/drawingml/2006/main">
            <a:off x="4724400" y="344805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6E6455"/>
                </a:solidFill>
                <a:latin typeface="Trebuchet MS"/>
                <a:ea typeface="Trebuchet MS"/>
                <a:cs typeface="Trebuchet MS"/>
              </a:defRPr>
            </a:pPr>
            <a:r>
              <a:rPr sz="2550" b="0">
                <a:solidFill>
                  <a:srgbClr val="6E6455"/>
                </a:solidFill>
                <a:latin typeface="Trebuchet MS"/>
                <a:ea typeface="Trebuchet MS"/>
                <a:cs typeface="Trebuchet MS"/>
              </a:rPr>
              <a:t>38 kg CO2e    /    latest ETA 22 h</a:t>
            </a:r>
          </a:p>
        </p:txBody>
      </p:sp>
      <p:sp>
        <p:nvSpPr>
          <p:cNvPr id="8" name="">
            <a:extLst xmlns:a="http://schemas.openxmlformats.org/drawingml/2006/main">
              <a:ext uri="{FF2B5EF4-FFF2-40B4-BE49-F238E27FC236}">
                <a16:creationId xmlns:a16="http://schemas.microsoft.com/office/drawing/2014/main" id="{0AA58DE6-F4E0-47C0-9003-FFEF0DDD8D8F}"/>
              </a:ext>
            </a:extLst>
          </p:cNvPr>
          <p:cNvSpPr>
            <a:spLocks xmlns:a="http://schemas.openxmlformats.org/drawingml/2006/main" noGrp="1"/>
          </p:cNvSpPr>
          <p:nvPr/>
        </p:nvSpPr>
        <p:spPr>
          <a:xfrm xmlns:a="http://schemas.openxmlformats.org/drawingml/2006/main">
            <a:off x="704850" y="4657725"/>
            <a:ext cx="9906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D6452C"/>
                </a:solidFill>
                <a:latin typeface="Trebuchet MS"/>
                <a:ea typeface="Trebuchet MS"/>
                <a:cs typeface="Trebuchet MS"/>
              </a:defRPr>
            </a:pPr>
            <a:r>
              <a:rPr sz="2700" b="1">
                <a:solidFill>
                  <a:srgbClr val="D6452C"/>
                </a:solidFill>
                <a:latin typeface="Trebuchet MS"/>
                <a:ea typeface="Trebuchet MS"/>
                <a:cs typeface="Trebuchet MS"/>
              </a:rPr>
              <a:t>10 checks passed</a:t>
            </a:r>
          </a:p>
        </p:txBody>
      </p:sp>
      <p:sp>
        <p:nvSpPr>
          <p:cNvPr id="9" name="">
            <a:extLst xmlns:a="http://schemas.openxmlformats.org/drawingml/2006/main">
              <a:ext uri="{FF2B5EF4-FFF2-40B4-BE49-F238E27FC236}">
                <a16:creationId xmlns:a16="http://schemas.microsoft.com/office/drawing/2014/main" id="{66907F25-837C-4E80-B2A3-F26F7F8A3362}"/>
              </a:ext>
            </a:extLst>
          </p:cNvPr>
          <p:cNvSpPr>
            <a:spLocks xmlns:a="http://schemas.openxmlformats.org/drawingml/2006/main" noGrp="1"/>
          </p:cNvSpPr>
          <p:nvPr/>
        </p:nvSpPr>
        <p:spPr>
          <a:xfrm xmlns:a="http://schemas.openxmlformats.org/drawingml/2006/main">
            <a:off x="704850" y="5314950"/>
            <a:ext cx="1057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E6455"/>
                </a:solidFill>
                <a:latin typeface="Calibri"/>
                <a:ea typeface="Calibri"/>
                <a:cs typeface="Calibri"/>
              </a:defRPr>
            </a:pPr>
            <a:r>
              <a:rPr sz="1800" b="0">
                <a:solidFill>
                  <a:srgbClr val="6E6455"/>
                </a:solidFill>
                <a:latin typeface="Calibri"/>
                <a:ea typeface="Calibri"/>
                <a:cs typeface="Calibri"/>
              </a:rPr>
              <a:t>Quantity · cost · carbon · deadline · routes · ledger · order IDs · stock · prices · receipts</a:t>
            </a:r>
          </a:p>
        </p:txBody>
      </p:sp>
      <p:sp xmlns:a="http://schemas.openxmlformats.org/drawingml/2006/main">
        <p:nvSpPr>
          <p:cNvPr id="11" name="Rectangle 10"/>
          <p:cNvSpPr/>
          <p:nvPr/>
        </p:nvSpPr>
        <p:spPr>
          <a:xfrm rot="21522000">
            <a:off x="639600" y="1067200"/>
            <a:ext cx="3485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a:off x="0" y="6698000"/>
            <a:ext cx="12192000" cy="160000"/>
          </a:xfrm>
          <a:prstGeom prst="rect">
            <a:avLst/>
          </a:prstGeom>
          <a:solidFill>
            <a:srgbClr val="C64C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76673857"/>
      </p:ext>
    </p:extLst>
  </p:cSld>
</p:sld>
</file>

<file path=ppt/slides/slide7.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C07094-D89B-482E-A7CA-FF21C795C2C1}"/>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Reproducible evaluation</a:t>
            </a:r>
          </a:p>
        </p:txBody>
      </p:sp>
      <p:sp>
        <p:nvSpPr>
          <p:cNvPr id="2" name="">
            <a:extLst xmlns:a="http://schemas.openxmlformats.org/drawingml/2006/main">
              <a:ext uri="{FF2B5EF4-FFF2-40B4-BE49-F238E27FC236}">
                <a16:creationId xmlns:a16="http://schemas.microsoft.com/office/drawing/2014/main" id="{C94E4269-5ED3-4F02-8A60-566A1DEA7765}"/>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80 synthetic cases, seed 1742838, checked against an independent dynamic-programming oracle.</a:t>
            </a:r>
          </a:p>
        </p:txBody>
      </p:sp>
      <p:sp>
        <p:nvSpPr>
          <p:cNvPr id="3" name="">
            <a:extLst xmlns:a="http://schemas.openxmlformats.org/drawingml/2006/main">
              <a:ext uri="{FF2B5EF4-FFF2-40B4-BE49-F238E27FC236}">
                <a16:creationId xmlns:a16="http://schemas.microsoft.com/office/drawing/2014/main" id="{E0D9BA62-9479-4EB0-8FF7-EC460CE88706}"/>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07</a:t>
            </a:r>
          </a:p>
        </p:txBody>
      </p:sp>
      <p:sp>
        <p:nvSpPr>
          <p:cNvPr id="4" name="">
            <a:extLst xmlns:a="http://schemas.openxmlformats.org/drawingml/2006/main">
              <a:ext uri="{FF2B5EF4-FFF2-40B4-BE49-F238E27FC236}">
                <a16:creationId xmlns:a16="http://schemas.microsoft.com/office/drawing/2014/main" id="{B5F8EFD2-1365-4AA1-ACA7-7CE272CA04B5}"/>
              </a:ext>
            </a:extLst>
          </p:cNvPr>
          <p:cNvSpPr>
            <a:spLocks xmlns:a="http://schemas.openxmlformats.org/drawingml/2006/main" noGrp="1"/>
          </p:cNvSpPr>
          <p:nvPr/>
        </p:nvSpPr>
        <p:spPr>
          <a:xfrm xmlns:a="http://schemas.openxmlformats.org/drawingml/2006/main">
            <a:off x="647700" y="214312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6D4FA3"/>
                </a:solidFill>
                <a:latin typeface="Trebuchet MS"/>
                <a:ea typeface="Trebuchet MS"/>
                <a:cs typeface="Trebuchet MS"/>
              </a:defRPr>
            </a:pPr>
            <a:r>
              <a:rPr sz="5700" b="1">
                <a:solidFill>
                  <a:srgbClr val="6D4FA3"/>
                </a:solidFill>
                <a:latin typeface="Trebuchet MS"/>
                <a:ea typeface="Trebuchet MS"/>
                <a:cs typeface="Trebuchet MS"/>
              </a:rPr>
              <a:t>80 / 80</a:t>
            </a:r>
          </a:p>
        </p:txBody>
      </p:sp>
      <p:sp>
        <p:nvSpPr>
          <p:cNvPr id="5" name="">
            <a:extLst xmlns:a="http://schemas.openxmlformats.org/drawingml/2006/main">
              <a:ext uri="{FF2B5EF4-FFF2-40B4-BE49-F238E27FC236}">
                <a16:creationId xmlns:a16="http://schemas.microsoft.com/office/drawing/2014/main" id="{A2986A82-3D9E-4911-86AF-A4E0130FC309}"/>
              </a:ext>
            </a:extLst>
          </p:cNvPr>
          <p:cNvSpPr>
            <a:spLocks xmlns:a="http://schemas.openxmlformats.org/drawingml/2006/main" noGrp="1"/>
          </p:cNvSpPr>
          <p:nvPr/>
        </p:nvSpPr>
        <p:spPr>
          <a:xfrm xmlns:a="http://schemas.openxmlformats.org/drawingml/2006/main">
            <a:off x="695325" y="324802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322B24"/>
                </a:solidFill>
                <a:latin typeface="Calibri"/>
                <a:ea typeface="Calibri"/>
                <a:cs typeface="Calibri"/>
              </a:defRPr>
            </a:pPr>
            <a:r>
              <a:rPr sz="2100" b="0">
                <a:solidFill>
                  <a:srgbClr val="322B24"/>
                </a:solidFill>
                <a:latin typeface="Calibri"/>
                <a:ea typeface="Calibri"/>
                <a:cs typeface="Calibri"/>
              </a:rPr>
              <a:t>Exact feasibility and objective agreement</a:t>
            </a:r>
          </a:p>
        </p:txBody>
      </p:sp>
      <p:sp>
        <p:nvSpPr>
          <p:cNvPr id="6" name="">
            <a:extLst xmlns:a="http://schemas.openxmlformats.org/drawingml/2006/main">
              <a:ext uri="{FF2B5EF4-FFF2-40B4-BE49-F238E27FC236}">
                <a16:creationId xmlns:a16="http://schemas.microsoft.com/office/drawing/2014/main" id="{6E7C30D6-514D-4CF8-9CFC-EBD739C0E271}"/>
              </a:ext>
            </a:extLst>
          </p:cNvPr>
          <p:cNvSpPr>
            <a:spLocks xmlns:a="http://schemas.openxmlformats.org/drawingml/2006/main" noGrp="1"/>
          </p:cNvSpPr>
          <p:nvPr/>
        </p:nvSpPr>
        <p:spPr>
          <a:xfrm xmlns:a="http://schemas.openxmlformats.org/drawingml/2006/main">
            <a:off x="6591300" y="2200275"/>
            <a:ext cx="4953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31 / 31 feasible cases verified</a:t>
            </a:r>
          </a:p>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49 / 49 infeasible cases identified</a:t>
            </a:r>
          </a:p>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17 automated tests passing</a:t>
            </a:r>
          </a:p>
        </p:txBody>
      </p:sp>
      <p:sp>
        <p:nvSpPr>
          <p:cNvPr id="7" name="">
            <a:extLst xmlns:a="http://schemas.openxmlformats.org/drawingml/2006/main">
              <a:ext uri="{FF2B5EF4-FFF2-40B4-BE49-F238E27FC236}">
                <a16:creationId xmlns:a16="http://schemas.microsoft.com/office/drawing/2014/main" id="{79453864-36DE-40AB-B419-6481840F21C2}"/>
              </a:ext>
            </a:extLst>
          </p:cNvPr>
          <p:cNvSpPr>
            <a:spLocks xmlns:a="http://schemas.openxmlformats.org/drawingml/2006/main" noGrp="1"/>
          </p:cNvSpPr>
          <p:nvPr/>
        </p:nvSpPr>
        <p:spPr>
          <a:xfrm xmlns:a="http://schemas.openxmlformats.org/drawingml/2006/main">
            <a:off x="704850" y="4905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322B24"/>
                </a:solidFill>
                <a:latin typeface="Calibri"/>
                <a:ea typeface="Calibri"/>
                <a:cs typeface="Calibri"/>
              </a:defRPr>
            </a:pPr>
            <a:r>
              <a:rPr sz="2100" b="0">
                <a:solidFill>
                  <a:srgbClr val="322B24"/>
                </a:solidFill>
                <a:latin typeface="Calibri"/>
                <a:ea typeface="Calibri"/>
                <a:cs typeface="Calibri"/>
              </a:rPr>
              <a:t>Cheapest-first baseline: feasible in 28 cases; constrained search: feasible in 31.</a:t>
            </a:r>
          </a:p>
        </p:txBody>
      </p:sp>
      <p:sp>
        <p:nvSpPr>
          <p:cNvPr id="8" name="">
            <a:extLst xmlns:a="http://schemas.openxmlformats.org/drawingml/2006/main">
              <a:ext uri="{FF2B5EF4-FFF2-40B4-BE49-F238E27FC236}">
                <a16:creationId xmlns:a16="http://schemas.microsoft.com/office/drawing/2014/main" id="{F11E4B64-37AE-435E-9364-AB15B65E72E2}"/>
              </a:ext>
            </a:extLst>
          </p:cNvPr>
          <p:cNvSpPr>
            <a:spLocks xmlns:a="http://schemas.openxmlformats.org/drawingml/2006/main" noGrp="1"/>
          </p:cNvSpPr>
          <p:nvPr/>
        </p:nvSpPr>
        <p:spPr>
          <a:xfrm xmlns:a="http://schemas.openxmlformats.org/drawingml/2006/main">
            <a:off x="704850" y="56673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Limited five-offer sandbox benchmark. No production or generalization claim.</a:t>
            </a:r>
          </a:p>
        </p:txBody>
      </p:sp>
      <p:sp xmlns:a="http://schemas.openxmlformats.org/drawingml/2006/main">
        <p:nvSpPr>
          <p:cNvPr id="10" name="Rectangle 9"/>
          <p:cNvSpPr/>
          <p:nvPr/>
        </p:nvSpPr>
        <p:spPr>
          <a:xfrm rot="21522000">
            <a:off x="639600" y="1067200"/>
            <a:ext cx="4715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0" y="6698000"/>
            <a:ext cx="12192000" cy="160000"/>
          </a:xfrm>
          <a:prstGeom prst="rect">
            <a:avLst/>
          </a:prstGeom>
          <a:solidFill>
            <a:srgbClr val="D6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42676379"/>
      </p:ext>
    </p:extLst>
  </p:cSld>
</p:sld>
</file>

<file path=ppt/slides/slide8.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428859-D15E-4F4C-B1D8-F30CB7C41FE3}"/>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Working prototype</a:t>
            </a:r>
          </a:p>
        </p:txBody>
      </p:sp>
      <p:sp>
        <p:nvSpPr>
          <p:cNvPr id="2" name="">
            <a:extLst xmlns:a="http://schemas.openxmlformats.org/drawingml/2006/main">
              <a:ext uri="{FF2B5EF4-FFF2-40B4-BE49-F238E27FC236}">
                <a16:creationId xmlns:a16="http://schemas.microsoft.com/office/drawing/2014/main" id="{A1094ADC-14AE-4EC5-9DD0-FE541CA21EDE}"/>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Inspect tool evidence, change constraints, inject an outage and export the full run.</a:t>
            </a:r>
          </a:p>
        </p:txBody>
      </p:sp>
      <p:sp>
        <p:nvSpPr>
          <p:cNvPr id="3" name="">
            <a:extLst xmlns:a="http://schemas.openxmlformats.org/drawingml/2006/main">
              <a:ext uri="{FF2B5EF4-FFF2-40B4-BE49-F238E27FC236}">
                <a16:creationId xmlns:a16="http://schemas.microsoft.com/office/drawing/2014/main" id="{6936F8B5-3213-47FB-8730-7D11A8EE9143}"/>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0a254c00ffe47a5"/>
          <a:stretch xmlns:a="http://schemas.openxmlformats.org/drawingml/2006/main"/>
        </p:blipFill>
        <p:spPr>
          <a:xfrm xmlns:a="http://schemas.openxmlformats.org/drawingml/2006/main" rot="21552000">
            <a:off x="1539363" y="1990725"/>
            <a:ext cx="4198374" cy="4067175"/>
          </a:xfrm>
          <a:prstGeom xmlns:a="http://schemas.openxmlformats.org/drawingml/2006/main" prst="rect">
            <a:avLst/>
          </a:prstGeom>
          <a:ln xmlns:a="http://schemas.openxmlformats.org/drawingml/2006/main" w="38100">
            <a:solidFill>
              <a:srgbClr val="2E6FAE"/>
            </a:solidFill>
          </a:ln>
        </p:spPr>
      </p:pic>
      <p:sp>
        <p:nvSpPr>
          <p:cNvPr id="5" name="">
            <a:extLst xmlns:a="http://schemas.openxmlformats.org/drawingml/2006/main">
              <a:ext uri="{FF2B5EF4-FFF2-40B4-BE49-F238E27FC236}">
                <a16:creationId xmlns:a16="http://schemas.microsoft.com/office/drawing/2014/main" id="{D2F54B1C-FBF8-4A6D-A6B7-C4184B487FFD}"/>
              </a:ext>
            </a:extLst>
          </p:cNvPr>
          <p:cNvSpPr>
            <a:spLocks xmlns:a="http://schemas.openxmlformats.org/drawingml/2006/main" noGrp="1"/>
          </p:cNvSpPr>
          <p:nvPr/>
        </p:nvSpPr>
        <p:spPr>
          <a:xfrm xmlns:a="http://schemas.openxmlformats.org/drawingml/2006/main">
            <a:off x="7162800" y="2447925"/>
            <a:ext cx="4362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C64C7D"/>
                </a:solidFill>
                <a:latin typeface="Calibri"/>
                <a:ea typeface="Calibri"/>
                <a:cs typeface="Calibri"/>
              </a:defRPr>
            </a:pPr>
            <a:r>
              <a:rPr sz="2325" b="1">
                <a:solidFill>
                  <a:srgbClr val="C64C7D"/>
                </a:solidFill>
                <a:latin typeface="Calibri"/>
                <a:ea typeface="Calibri"/>
                <a:cs typeface="Calibri"/>
              </a:rPr>
              <a:t>python server.py</a:t>
            </a:r>
          </a:p>
        </p:txBody>
      </p:sp>
      <p:sp>
        <p:nvSpPr>
          <p:cNvPr id="6" name="">
            <a:extLst xmlns:a="http://schemas.openxmlformats.org/drawingml/2006/main">
              <a:ext uri="{FF2B5EF4-FFF2-40B4-BE49-F238E27FC236}">
                <a16:creationId xmlns:a16="http://schemas.microsoft.com/office/drawing/2014/main" id="{8050D6B2-2DBA-421C-A58A-6E517DCACAB1}"/>
              </a:ext>
            </a:extLst>
          </p:cNvPr>
          <p:cNvSpPr>
            <a:spLocks xmlns:a="http://schemas.openxmlformats.org/drawingml/2006/main" noGrp="1"/>
          </p:cNvSpPr>
          <p:nvPr/>
        </p:nvSpPr>
        <p:spPr>
          <a:xfrm xmlns:a="http://schemas.openxmlformats.org/drawingml/2006/main">
            <a:off x="7162800" y="3238500"/>
            <a:ext cx="4333875"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322B24"/>
                </a:solidFill>
                <a:latin typeface="Calibri"/>
                <a:ea typeface="Calibri"/>
                <a:cs typeface="Calibri"/>
              </a:defRPr>
            </a:pPr>
            <a:r>
              <a:rPr sz="2175" b="0">
                <a:solidFill>
                  <a:srgbClr val="322B24"/>
                </a:solidFill>
                <a:latin typeface="Calibri"/>
                <a:ea typeface="Calibri"/>
                <a:cs typeface="Calibri"/>
              </a:rPr>
              <a:t>Open localhost:8765</a:t>
            </a:r>
          </a:p>
          <a:p xmlns:a="http://schemas.openxmlformats.org/drawingml/2006/main">
            <a:pPr>
              <a:defRPr sz="2175" b="0">
                <a:solidFill>
                  <a:srgbClr val="322B24"/>
                </a:solidFill>
                <a:latin typeface="Calibri"/>
                <a:ea typeface="Calibri"/>
                <a:cs typeface="Calibri"/>
              </a:defRPr>
            </a:pPr>
            <a:r>
              <a:rPr sz="2175" b="0">
                <a:solidFill>
                  <a:srgbClr val="322B24"/>
                </a:solidFill>
                <a:latin typeface="Calibri"/>
                <a:ea typeface="Calibri"/>
                <a:cs typeface="Calibri"/>
              </a:rPr>
              <a:t>Select Two disruptions</a:t>
            </a:r>
          </a:p>
          <a:p xmlns:a="http://schemas.openxmlformats.org/drawingml/2006/main">
            <a:pPr>
              <a:defRPr sz="2175" b="0">
                <a:solidFill>
                  <a:srgbClr val="322B24"/>
                </a:solidFill>
                <a:latin typeface="Calibri"/>
                <a:ea typeface="Calibri"/>
                <a:cs typeface="Calibri"/>
              </a:defRPr>
            </a:pPr>
            <a:r>
              <a:rPr sz="2175" b="0">
                <a:solidFill>
                  <a:srgbClr val="322B24"/>
                </a:solidFill>
                <a:latin typeface="Calibri"/>
                <a:ea typeface="Calibri"/>
                <a:cs typeface="Calibri"/>
              </a:rPr>
              <a:t>Run the agent</a:t>
            </a:r>
          </a:p>
          <a:p xmlns:a="http://schemas.openxmlformats.org/drawingml/2006/main">
            <a:pPr>
              <a:defRPr sz="2175" b="0">
                <a:solidFill>
                  <a:srgbClr val="322B24"/>
                </a:solidFill>
                <a:latin typeface="Calibri"/>
                <a:ea typeface="Calibri"/>
                <a:cs typeface="Calibri"/>
              </a:defRPr>
            </a:pPr>
            <a:r>
              <a:rPr sz="2175" b="0">
                <a:solidFill>
                  <a:srgbClr val="322B24"/>
                </a:solidFill>
                <a:latin typeface="Calibri"/>
                <a:ea typeface="Calibri"/>
                <a:cs typeface="Calibri"/>
              </a:rPr>
              <a:t>Inspect verification</a:t>
            </a:r>
          </a:p>
        </p:txBody>
      </p:sp>
      <p:sp>
        <p:nvSpPr>
          <p:cNvPr id="7" name="">
            <a:extLst xmlns:a="http://schemas.openxmlformats.org/drawingml/2006/main">
              <a:ext uri="{FF2B5EF4-FFF2-40B4-BE49-F238E27FC236}">
                <a16:creationId xmlns:a16="http://schemas.microsoft.com/office/drawing/2014/main" id="{4AE74A63-120D-4217-ADAF-4FE7B0FDB4B4}"/>
              </a:ext>
            </a:extLst>
          </p:cNvPr>
          <p:cNvSpPr>
            <a:spLocks xmlns:a="http://schemas.openxmlformats.org/drawingml/2006/main" noGrp="1"/>
          </p:cNvSpPr>
          <p:nvPr/>
        </p:nvSpPr>
        <p:spPr>
          <a:xfrm xmlns:a="http://schemas.openxmlformats.org/drawingml/2006/main">
            <a:off x="7162800" y="5438775"/>
            <a:ext cx="4191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Standard-library Python + browser</a:t>
            </a:r>
          </a:p>
        </p:txBody>
      </p:sp>
      <p:sp xmlns:a="http://schemas.openxmlformats.org/drawingml/2006/main">
        <p:nvSpPr>
          <p:cNvPr id="12" name="Rectangle 11"/>
          <p:cNvSpPr/>
          <p:nvPr/>
        </p:nvSpPr>
        <p:spPr>
          <a:xfrm rot="21522000">
            <a:off x="639600" y="1067200"/>
            <a:ext cx="3485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Rectangle 12"/>
          <p:cNvSpPr/>
          <p:nvPr/>
        </p:nvSpPr>
        <p:spPr>
          <a:xfrm>
            <a:off x="0" y="6698000"/>
            <a:ext cx="12192000" cy="160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62327647"/>
      </p:ext>
    </p:extLst>
  </p:cSld>
</p:sld>
</file>

<file path=ppt/slides/slide9.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936D3A-9087-428E-A788-5A6CA76DD586}"/>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Challenges and limits</a:t>
            </a:r>
          </a:p>
        </p:txBody>
      </p:sp>
      <p:sp>
        <p:nvSpPr>
          <p:cNvPr id="2" name="">
            <a:extLst xmlns:a="http://schemas.openxmlformats.org/drawingml/2006/main">
              <a:ext uri="{FF2B5EF4-FFF2-40B4-BE49-F238E27FC236}">
                <a16:creationId xmlns:a16="http://schemas.microsoft.com/office/drawing/2014/main" id="{644E187B-09C5-413D-B978-BA30F158C3B5}"/>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The prototype is designed to make recovery behavior inspectable and testable.</a:t>
            </a:r>
          </a:p>
        </p:txBody>
      </p:sp>
      <p:sp>
        <p:nvSpPr>
          <p:cNvPr id="3" name="">
            <a:extLst xmlns:a="http://schemas.openxmlformats.org/drawingml/2006/main">
              <a:ext uri="{FF2B5EF4-FFF2-40B4-BE49-F238E27FC236}">
                <a16:creationId xmlns:a16="http://schemas.microsoft.com/office/drawing/2014/main" id="{7ADC511D-D6EA-4ED1-B3C8-7026D74604CB}"/>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09</a:t>
            </a:r>
          </a:p>
        </p:txBody>
      </p:sp>
      <p:sp>
        <p:nvSpPr>
          <p:cNvPr id="4" name="">
            <a:extLst xmlns:a="http://schemas.openxmlformats.org/drawingml/2006/main">
              <a:ext uri="{FF2B5EF4-FFF2-40B4-BE49-F238E27FC236}">
                <a16:creationId xmlns:a16="http://schemas.microsoft.com/office/drawing/2014/main" id="{62C8EDC4-5311-47D6-ACBF-99189B3AC4E8}"/>
              </a:ext>
            </a:extLst>
          </p:cNvPr>
          <p:cNvSpPr>
            <a:spLocks xmlns:a="http://schemas.openxmlformats.org/drawingml/2006/main" noGrp="1"/>
          </p:cNvSpPr>
          <p:nvPr/>
        </p:nvSpPr>
        <p:spPr>
          <a:xfrm xmlns:a="http://schemas.openxmlformats.org/drawingml/2006/main">
            <a:off x="685800" y="21145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C64C7D"/>
                </a:solidFill>
                <a:latin typeface="Trebuchet MS"/>
                <a:ea typeface="Trebuchet MS"/>
                <a:cs typeface="Trebuchet MS"/>
              </a:defRPr>
            </a:pPr>
            <a:r>
              <a:rPr sz="2475" b="1">
                <a:solidFill>
                  <a:srgbClr val="C64C7D"/>
                </a:solidFill>
                <a:latin typeface="Trebuchet MS"/>
                <a:ea typeface="Trebuchet MS"/>
                <a:cs typeface="Trebuchet MS"/>
              </a:rPr>
              <a:t>Consistent state after failure</a:t>
            </a:r>
          </a:p>
        </p:txBody>
      </p:sp>
      <p:sp>
        <p:nvSpPr>
          <p:cNvPr id="5" name="">
            <a:extLst xmlns:a="http://schemas.openxmlformats.org/drawingml/2006/main">
              <a:ext uri="{FF2B5EF4-FFF2-40B4-BE49-F238E27FC236}">
                <a16:creationId xmlns:a16="http://schemas.microsoft.com/office/drawing/2014/main" id="{B7BCA758-FE62-484F-8021-B587EB29E026}"/>
              </a:ext>
            </a:extLst>
          </p:cNvPr>
          <p:cNvSpPr>
            <a:spLocks xmlns:a="http://schemas.openxmlformats.org/drawingml/2006/main" noGrp="1"/>
          </p:cNvSpPr>
          <p:nvPr/>
        </p:nvSpPr>
        <p:spPr>
          <a:xfrm xmlns:a="http://schemas.openxmlformats.org/drawingml/2006/main">
            <a:off x="685800" y="2762250"/>
            <a:ext cx="10572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322B24"/>
                </a:solidFill>
                <a:latin typeface="Calibri"/>
                <a:ea typeface="Calibri"/>
                <a:cs typeface="Calibri"/>
              </a:defRPr>
            </a:pPr>
            <a:r>
              <a:rPr sz="2175" b="0">
                <a:solidFill>
                  <a:srgbClr val="322B24"/>
                </a:solidFill>
                <a:latin typeface="Calibri"/>
                <a:ea typeface="Calibri"/>
                <a:cs typeface="Calibri"/>
              </a:rPr>
              <a:t>Keep unaffected orders; cancel and refund affected ones; prevent duplicate charges.</a:t>
            </a:r>
          </a:p>
        </p:txBody>
      </p:sp>
      <p:sp>
        <p:nvSpPr>
          <p:cNvPr id="6" name="">
            <a:extLst xmlns:a="http://schemas.openxmlformats.org/drawingml/2006/main">
              <a:ext uri="{FF2B5EF4-FFF2-40B4-BE49-F238E27FC236}">
                <a16:creationId xmlns:a16="http://schemas.microsoft.com/office/drawing/2014/main" id="{9881561C-F958-42BF-B8F5-BB73F59ADED3}"/>
              </a:ext>
            </a:extLst>
          </p:cNvPr>
          <p:cNvSpPr>
            <a:spLocks xmlns:a="http://schemas.openxmlformats.org/drawingml/2006/main" noGrp="1"/>
          </p:cNvSpPr>
          <p:nvPr/>
        </p:nvSpPr>
        <p:spPr>
          <a:xfrm xmlns:a="http://schemas.openxmlformats.org/drawingml/2006/main">
            <a:off x="685800" y="39243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0E8A78"/>
                </a:solidFill>
                <a:latin typeface="Trebuchet MS"/>
                <a:ea typeface="Trebuchet MS"/>
                <a:cs typeface="Trebuchet MS"/>
              </a:defRPr>
            </a:pPr>
            <a:r>
              <a:rPr sz="2475" b="1">
                <a:solidFill>
                  <a:srgbClr val="0E8A78"/>
                </a:solidFill>
                <a:latin typeface="Trebuchet MS"/>
                <a:ea typeface="Trebuchet MS"/>
                <a:cs typeface="Trebuchet MS"/>
              </a:rPr>
              <a:t>Explicit simulator assumptions</a:t>
            </a:r>
          </a:p>
        </p:txBody>
      </p:sp>
      <p:sp>
        <p:nvSpPr>
          <p:cNvPr id="7" name="">
            <a:extLst xmlns:a="http://schemas.openxmlformats.org/drawingml/2006/main">
              <a:ext uri="{FF2B5EF4-FFF2-40B4-BE49-F238E27FC236}">
                <a16:creationId xmlns:a16="http://schemas.microsoft.com/office/drawing/2014/main" id="{5A2EA8DF-E52A-49D3-8A9E-DD6E9F200604}"/>
              </a:ext>
            </a:extLst>
          </p:cNvPr>
          <p:cNvSpPr>
            <a:spLocks xmlns:a="http://schemas.openxmlformats.org/drawingml/2006/main" noGrp="1"/>
          </p:cNvSpPr>
          <p:nvPr/>
        </p:nvSpPr>
        <p:spPr>
          <a:xfrm xmlns:a="http://schemas.openxmlformats.org/drawingml/2006/main">
            <a:off x="685800" y="4581525"/>
            <a:ext cx="1057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6E6455"/>
                </a:solidFill>
                <a:latin typeface="Calibri"/>
                <a:ea typeface="Calibri"/>
                <a:cs typeface="Calibri"/>
              </a:defRPr>
            </a:pPr>
            <a:r>
              <a:rPr sz="2175" b="0">
                <a:solidFill>
                  <a:srgbClr val="6E6455"/>
                </a:solidFill>
                <a:latin typeface="Calibri"/>
                <a:ea typeface="Calibri"/>
                <a:cs typeface="Calibri"/>
              </a:rPr>
              <a:t>One SKU, five offers, ten-unit lots, snapshot ETAs and fully refundable pre-dispatch cancellations. No live ERP, physical delivery or measured emissions.</a:t>
            </a:r>
          </a:p>
        </p:txBody>
      </p:sp>
      <p:sp xmlns:a="http://schemas.openxmlformats.org/drawingml/2006/main">
        <p:nvSpPr>
          <p:cNvPr id="9" name="Rectangle 8"/>
          <p:cNvSpPr/>
          <p:nvPr/>
        </p:nvSpPr>
        <p:spPr>
          <a:xfrm rot="21522000">
            <a:off x="639600" y="1067200"/>
            <a:ext cx="4305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0" y="6698000"/>
            <a:ext cx="12192000" cy="160000"/>
          </a:xfrm>
          <a:prstGeom prst="rect">
            <a:avLst/>
          </a:prstGeom>
          <a:solidFill>
            <a:srgbClr val="C89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46081650"/>
      </p:ext>
    </p:extLst>
  </p:cSld>
</p:sld>
</file>

<file path=ppt/slides/slide10.xml><?xml version="1.0" encoding="utf-8"?>
<p:sld xmlns:p="http://schemas.openxmlformats.org/presentationml/2006/main">
  <p:cSld>
    <p:bg>
      <p:bgPr>
        <a:solidFill xmlns:a="http://schemas.openxmlformats.org/drawingml/2006/main">
          <a:srgbClr val="FBF3E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352960-7E78-4327-90F3-F198B0A92F7C}"/>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322B24"/>
                </a:solidFill>
                <a:latin typeface="Trebuchet MS"/>
                <a:ea typeface="Trebuchet MS"/>
                <a:cs typeface="Trebuchet MS"/>
              </a:defRPr>
            </a:pPr>
            <a:r>
              <a:rPr sz="3300" b="1">
                <a:solidFill>
                  <a:srgbClr val="322B24"/>
                </a:solidFill>
                <a:latin typeface="Trebuchet MS"/>
                <a:ea typeface="Trebuchet MS"/>
                <a:cs typeface="Trebuchet MS"/>
              </a:rPr>
              <a:t>Conclusion</a:t>
            </a:r>
          </a:p>
        </p:txBody>
      </p:sp>
      <p:sp>
        <p:nvSpPr>
          <p:cNvPr id="2" name="">
            <a:extLst xmlns:a="http://schemas.openxmlformats.org/drawingml/2006/main">
              <a:ext uri="{FF2B5EF4-FFF2-40B4-BE49-F238E27FC236}">
                <a16:creationId xmlns:a16="http://schemas.microsoft.com/office/drawing/2014/main" id="{4979F4BD-067D-43A1-A726-2B76F14C57B8}"/>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E6455"/>
                </a:solidFill>
                <a:latin typeface="Calibri"/>
                <a:ea typeface="Calibri"/>
                <a:cs typeface="Calibri"/>
              </a:defRPr>
            </a:pPr>
            <a:r>
              <a:rPr sz="1725" b="0">
                <a:solidFill>
                  <a:srgbClr val="6E6455"/>
                </a:solidFill>
                <a:latin typeface="Calibri"/>
                <a:ea typeface="Calibri"/>
                <a:cs typeface="Calibri"/>
              </a:rPr>
              <a:t>A recovery action is complete only when the resulting state satisfies the goal.</a:t>
            </a:r>
          </a:p>
        </p:txBody>
      </p:sp>
      <p:sp>
        <p:nvSpPr>
          <p:cNvPr id="3" name="">
            <a:extLst xmlns:a="http://schemas.openxmlformats.org/drawingml/2006/main">
              <a:ext uri="{FF2B5EF4-FFF2-40B4-BE49-F238E27FC236}">
                <a16:creationId xmlns:a16="http://schemas.microsoft.com/office/drawing/2014/main" id="{91A36255-DBFB-4819-B793-AD97EB61EB88}"/>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E6455"/>
                </a:solidFill>
                <a:latin typeface="Calibri"/>
                <a:ea typeface="Calibri"/>
                <a:cs typeface="Calibri"/>
              </a:defRPr>
            </a:pPr>
            <a:r>
              <a:rPr sz="1125" b="0">
                <a:solidFill>
                  <a:srgbClr val="6E6455"/>
                </a:solidFill>
                <a:latin typeface="Calibri"/>
                <a:ea typeface="Calibri"/>
                <a:cs typeface="Calibri"/>
              </a:rPr>
              <a:t>TechTitan  /  RouteGuard                                         10</a:t>
            </a:r>
          </a:p>
        </p:txBody>
      </p:sp>
      <p:sp>
        <p:nvSpPr>
          <p:cNvPr id="4" name="">
            <a:extLst xmlns:a="http://schemas.openxmlformats.org/drawingml/2006/main">
              <a:ext uri="{FF2B5EF4-FFF2-40B4-BE49-F238E27FC236}">
                <a16:creationId xmlns:a16="http://schemas.microsoft.com/office/drawing/2014/main" id="{0400B3AB-87D0-4987-83BE-F850396AA81A}"/>
              </a:ext>
            </a:extLst>
          </p:cNvPr>
          <p:cNvSpPr>
            <a:spLocks xmlns:a="http://schemas.openxmlformats.org/drawingml/2006/main" noGrp="1"/>
          </p:cNvSpPr>
          <p:nvPr/>
        </p:nvSpPr>
        <p:spPr>
          <a:xfrm xmlns:a="http://schemas.openxmlformats.org/drawingml/2006/main">
            <a:off x="638175" y="2305050"/>
            <a:ext cx="10858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D6452C"/>
                </a:solidFill>
                <a:latin typeface="Trebuchet MS"/>
                <a:ea typeface="Trebuchet MS"/>
                <a:cs typeface="Trebuchet MS"/>
              </a:defRPr>
            </a:pPr>
            <a:r>
              <a:rPr sz="4275" b="1">
                <a:solidFill>
                  <a:srgbClr val="D6452C"/>
                </a:solidFill>
                <a:latin typeface="Trebuchet MS"/>
                <a:ea typeface="Trebuchet MS"/>
                <a:cs typeface="Trebuchet MS"/>
              </a:rPr>
              <a:t>Act. Observe the consequence.</a:t>
            </a:r>
          </a:p>
          <a:p xmlns:a="http://schemas.openxmlformats.org/drawingml/2006/main">
            <a:pPr>
              <a:defRPr sz="4275" b="1">
                <a:solidFill>
                  <a:srgbClr val="D6452C"/>
                </a:solidFill>
                <a:latin typeface="Trebuchet MS"/>
                <a:ea typeface="Trebuchet MS"/>
                <a:cs typeface="Trebuchet MS"/>
              </a:defRPr>
            </a:pPr>
            <a:r>
              <a:rPr sz="4275" b="1">
                <a:solidFill>
                  <a:srgbClr val="D6452C"/>
                </a:solidFill>
                <a:latin typeface="Trebuchet MS"/>
                <a:ea typeface="Trebuchet MS"/>
                <a:cs typeface="Trebuchet MS"/>
              </a:rPr>
              <a:t>Replan. Verify.</a:t>
            </a:r>
          </a:p>
        </p:txBody>
      </p:sp>
      <p:sp>
        <p:nvSpPr>
          <p:cNvPr id="5" name="">
            <a:extLst xmlns:a="http://schemas.openxmlformats.org/drawingml/2006/main">
              <a:ext uri="{FF2B5EF4-FFF2-40B4-BE49-F238E27FC236}">
                <a16:creationId xmlns:a16="http://schemas.microsoft.com/office/drawing/2014/main" id="{E65B9DD0-EDEE-429E-958B-BDC49D71E531}"/>
              </a:ext>
            </a:extLst>
          </p:cNvPr>
          <p:cNvSpPr>
            <a:spLocks xmlns:a="http://schemas.openxmlformats.org/drawingml/2006/main" noGrp="1"/>
          </p:cNvSpPr>
          <p:nvPr/>
        </p:nvSpPr>
        <p:spPr>
          <a:xfrm xmlns:a="http://schemas.openxmlformats.org/drawingml/2006/main">
            <a:off x="685800" y="44862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Delivered: runnable source, architecture, presentation,</a:t>
            </a:r>
          </a:p>
          <a:p xmlns:a="http://schemas.openxmlformats.org/drawingml/2006/main">
            <a:pPr>
              <a:defRPr sz="2250" b="0">
                <a:solidFill>
                  <a:srgbClr val="322B24"/>
                </a:solidFill>
                <a:latin typeface="Calibri"/>
                <a:ea typeface="Calibri"/>
                <a:cs typeface="Calibri"/>
              </a:defRPr>
            </a:pPr>
            <a:r>
              <a:rPr sz="2250" b="0">
                <a:solidFill>
                  <a:srgbClr val="322B24"/>
                </a:solidFill>
                <a:latin typeface="Calibri"/>
                <a:ea typeface="Calibri"/>
                <a:cs typeface="Calibri"/>
              </a:rPr>
              <a:t>demo video and reproducible evaluation evidence.</a:t>
            </a:r>
          </a:p>
        </p:txBody>
      </p:sp>
      <p:sp>
        <p:nvSpPr>
          <p:cNvPr id="6" name="">
            <a:extLst xmlns:a="http://schemas.openxmlformats.org/drawingml/2006/main">
              <a:ext uri="{FF2B5EF4-FFF2-40B4-BE49-F238E27FC236}">
                <a16:creationId xmlns:a16="http://schemas.microsoft.com/office/drawing/2014/main" id="{1C8392C1-B8A2-40AF-A40F-AACE4A34296A}"/>
              </a:ext>
            </a:extLst>
          </p:cNvPr>
          <p:cNvSpPr>
            <a:spLocks xmlns:a="http://schemas.openxmlformats.org/drawingml/2006/main" noGrp="1"/>
          </p:cNvSpPr>
          <p:nvPr/>
        </p:nvSpPr>
        <p:spPr>
          <a:xfrm xmlns:a="http://schemas.openxmlformats.org/drawingml/2006/main">
            <a:off x="685800" y="57721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E6455"/>
                </a:solidFill>
                <a:latin typeface="Calibri"/>
                <a:ea typeface="Calibri"/>
                <a:cs typeface="Calibri"/>
              </a:defRPr>
            </a:pPr>
            <a:r>
              <a:rPr sz="1650" b="0">
                <a:solidFill>
                  <a:srgbClr val="6E6455"/>
                </a:solidFill>
                <a:latin typeface="Calibri"/>
                <a:ea typeface="Calibri"/>
                <a:cs typeface="Calibri"/>
              </a:rPr>
              <a:t>TechTitan  ·  Gaurav Vyas  ·  Utkarsh Umang  ·  Shivam Salve</a:t>
            </a:r>
          </a:p>
        </p:txBody>
      </p:sp>
      <p:sp xmlns:a="http://schemas.openxmlformats.org/drawingml/2006/main">
        <p:nvSpPr>
          <p:cNvPr id="8" name="Rectangle 7"/>
          <p:cNvSpPr/>
          <p:nvPr/>
        </p:nvSpPr>
        <p:spPr>
          <a:xfrm rot="21522000">
            <a:off x="639600" y="1067200"/>
            <a:ext cx="2050000" cy="60000"/>
          </a:xfrm>
          <a:prstGeom prst="rect">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0" y="6698000"/>
            <a:ext cx="12192000" cy="160000"/>
          </a:xfrm>
          <a:prstGeom prst="rect">
            <a:avLst/>
          </a:prstGeom>
          <a:solidFill>
            <a:srgbClr val="6D4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Oval 9"/>
          <p:cNvSpPr/>
          <p:nvPr/>
        </p:nvSpPr>
        <p:spPr>
          <a:xfrm>
            <a:off x="10950000" y="500000"/>
            <a:ext cx="260000" cy="260000"/>
          </a:xfrm>
          <a:prstGeom prst="ellipse">
            <a:avLst/>
          </a:prstGeom>
          <a:solidFill>
            <a:srgbClr val="D6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Oval 10"/>
          <p:cNvSpPr/>
          <p:nvPr/>
        </p:nvSpPr>
        <p:spPr>
          <a:xfrm>
            <a:off x="11380000" y="760000"/>
            <a:ext cx="150000" cy="150000"/>
          </a:xfrm>
          <a:prstGeom prst="ellipse">
            <a:avLst/>
          </a:prstGeom>
          <a:solidFill>
            <a:srgbClr val="6D4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lus 11"/>
          <p:cNvSpPr/>
          <p:nvPr/>
        </p:nvSpPr>
        <p:spPr>
          <a:xfrm rot="21000000">
            <a:off x="400000" y="1500000"/>
            <a:ext cx="240000" cy="240000"/>
          </a:xfrm>
          <a:prstGeom prst="mathPlus">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Diamond 12"/>
          <p:cNvSpPr/>
          <p:nvPr/>
        </p:nvSpPr>
        <p:spPr>
          <a:xfrm rot="840000">
            <a:off x="11300000" y="5450000"/>
            <a:ext cx="230000" cy="230000"/>
          </a:xfrm>
          <a:prstGeom prst="diamond">
            <a:avLst/>
          </a:prstGeom>
          <a:solidFill>
            <a:srgbClr val="C89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7324704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2026-09-12T09:14:47.9370000Z</dcterms:created>
  <dcterms:modified xsi:type="dcterms:W3CDTF">2026-09-12T09:14:47.9370000Z</dcterms:modified>
</coreProperties>
</file>